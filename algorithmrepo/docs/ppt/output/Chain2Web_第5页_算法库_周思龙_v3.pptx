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edb2577ee44063" /><Relationship Type="http://schemas.openxmlformats.org/officeDocument/2006/relationships/extended-properties" Target="/docProps/app.xml" Id="Rff2a826f880d4705" /><Relationship Type="http://schemas.openxmlformats.org/officeDocument/2006/relationships/officeDocument" Target="/ppt/presentation.xml" Id="R8eeac420d1c44b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4627e8a5d140bf"/>
  </p:sldMasterIdLst>
  <p:notesMasterIdLst>
    <p:notesMasterId xmlns:r="http://schemas.openxmlformats.org/officeDocument/2006/relationships" r:id="Rb1c2dea126a649ad"/>
  </p:notesMasterIdLst>
  <p:sldIdLst>
    <p:sldId xmlns:r="http://schemas.openxmlformats.org/officeDocument/2006/relationships" id="256" r:id="R1e6fde6c33834c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4c29d175144cbc" /><Relationship Type="http://schemas.openxmlformats.org/officeDocument/2006/relationships/slideMaster" Target="/ppt/slideMasters/slideMaster1.xml" Id="R8d4627e8a5d140bf" /><Relationship Type="http://schemas.openxmlformats.org/officeDocument/2006/relationships/notesMaster" Target="/ppt/notesMasters/notesMaster1.xml" Id="Rb1c2dea126a649ad" /><Relationship Type="http://schemas.openxmlformats.org/officeDocument/2006/relationships/presProps" Target="/ppt/presProps.xml" Id="Re8f141612c62458f" /><Relationship Type="http://schemas.openxmlformats.org/officeDocument/2006/relationships/viewProps" Target="/ppt/viewProps.xml" Id="Rf657c3955d404239" /><Relationship Type="http://schemas.openxmlformats.org/officeDocument/2006/relationships/tableStyles" Target="/ppt/tableStyles.xml" Id="Rad239b6eee994c20" /><Relationship Type="http://schemas.openxmlformats.org/officeDocument/2006/relationships/slide" Target="/ppt/slides/slide1.xml" Id="R1e6fde6c33834c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fd6b1d12c441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a6befc1fdc43e0" /><Relationship Type="http://schemas.openxmlformats.org/officeDocument/2006/relationships/notesMaster" Target="/ppt/notesMasters/notesMaster1.xml" Id="R933d0fbb6cf649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本页内容依据：</a:t>
            </a:r>
            <a:endParaRPr/>
          </a:p>
          <a:p xmlns:a="http://schemas.openxmlformats.org/drawingml/2006/main">
            <a:r>
              <a:t>1. 《智能算法模型库设计报告v1.1》总体逻辑架构、算法生命周期、Runner与模型加载设计。</a:t>
            </a:r>
            <a:endParaRPr/>
          </a:p>
          <a:p xmlns:a="http://schemas.openxmlformats.org/drawingml/2006/main">
            <a:r>
              <a:t>2. 《软件设计说明v1.1》4.1.2 智能算法模型库、5.1.2 C++算法注册与生命周期管理。</a:t>
            </a:r>
            <a:endParaRPr/>
          </a:p>
          <a:p xmlns:a="http://schemas.openxmlformats.org/drawingml/2006/main">
            <a:r>
              <a:t>3. 《应用功能智能化总体方案v1.4》4.2.1 建设目标、6.1.2 智能算法模型库。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讲解要点：算法卡将模型、Schema、资源要求和验证样例组织成受控资产。注册表维护版本与生命周期。统一运行层根据 backend_type 选择 ONNX Runner 或 Python HTTP Runner，完成加载、推理、结果校验和审计。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ba8508d804ff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70055f9c524529" /><Relationship Type="http://schemas.openxmlformats.org/officeDocument/2006/relationships/slideLayout" Target="/ppt/slideLayouts/slideLayout1.xml" Id="Rf3ab41ae63a9483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ab41ae63a9483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d7e549f884755" /><Relationship Type="http://schemas.openxmlformats.org/officeDocument/2006/relationships/notesSlide" Target="/ppt/notesSlides/notesSlide1.xml" Id="R3c0e9c037e4440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F07452B-9C61-4FD4-B8CE-D8FE093C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4320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220">
                <a:solidFill>
                  <a:srgbClr val="1176D4"/>
                </a:solidFill>
                <a:latin typeface="Microsoft YaHei"/>
                <a:ea typeface="Microsoft YaHei"/>
                <a:cs typeface="Microsoft YaHei"/>
              </a:rPr>
              <a:t>CORE / ALGORITHM LIBRARY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FE426D-5017-450B-9F3C-4C64C3AC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可装卸算法库：资产管理、统一运行与节点执行</a:t>
            </a:r>
            <a:endParaRPr sz="2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125D6DA-C290-4E44-A0CC-E3E62881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6858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8E6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9C92330-A9A7-4CA6-977D-344B9E82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393192"/>
            <a:ext cx="51206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FA0B2"/>
                </a:solidFill>
                <a:latin typeface="Aptos Mono"/>
                <a:ea typeface="Aptos Mono"/>
                <a:cs typeface="Aptos Mono"/>
              </a:rPr>
              <a:t>05</a:t>
            </a:r>
            <a:endParaRPr sz="1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D6E0B97-8913-4288-A7DC-B71A4126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28816"/>
            <a:ext cx="110002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A14A81E-791F-4A89-847E-618C7AEA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65392"/>
            <a:ext cx="3840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北京邮电大学｜Chain2Web 项目组</a:t>
            </a:r>
            <a:endParaRPr sz="7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E2D2178-4B00-4F5A-912F-3E19220E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565392"/>
            <a:ext cx="2834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所有图形均应保持可编辑</a:t>
            </a:r>
            <a:endParaRPr sz="7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CF92F7B-C905-417D-BB6B-B01F18DD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3544"/>
            <a:ext cx="1719072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160">
            <a:solidFill>
              <a:srgbClr val="064A9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488C037-7301-4212-B6FB-C24C3D62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8116"/>
            <a:ext cx="171907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总体架构＋运行主线</a:t>
            </a:r>
            <a:endParaRPr sz="950"/>
          </a:p>
        </p:txBody>
      </p:sp>
      <p:sp>
        <p:nvSpPr>
          <p:cNvPr id="11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FFF3038D-42C9-4D97-B21C-9AE288F4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7905750" cy="4762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12" name="architecture-label">
            <a:extLst xmlns:a="http://schemas.openxmlformats.org/drawingml/2006/main">
              <a:ext uri="{FF2B5EF4-FFF2-40B4-BE49-F238E27FC236}">
                <a16:creationId xmlns:a16="http://schemas.microsoft.com/office/drawing/2014/main" id="{E4ABC56A-6CA1-492D-86FC-B306AB9C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352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9FC"/>
          </a:solidFill>
          <a:ln xmlns:a="http://schemas.openxmlformats.org/drawingml/2006/main" w="9525">
            <a:solidFill>
              <a:srgbClr val="ECF9FC"/>
            </a:solidFill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rPr>
              <a:t>总体逻辑架构</a:t>
            </a:r>
          </a:p>
        </p:txBody>
      </p:sp>
      <p:sp>
        <p:nvSpPr>
          <p:cNvPr id="13" name="caller-layer">
            <a:extLst xmlns:a="http://schemas.openxmlformats.org/drawingml/2006/main">
              <a:ext uri="{FF2B5EF4-FFF2-40B4-BE49-F238E27FC236}">
                <a16:creationId xmlns:a16="http://schemas.microsoft.com/office/drawing/2014/main" id="{7907597A-FF92-4C11-8280-F23A60E1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2390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FD7F5"/>
            </a:solidFill>
            <a:prstDash val="solid"/>
          </a:ln>
        </p:spPr>
      </p:sp>
      <p:sp>
        <p:nvSpPr>
          <p:cNvPr id="14" name="caller-title">
            <a:extLst xmlns:a="http://schemas.openxmlformats.org/drawingml/2006/main">
              <a:ext uri="{FF2B5EF4-FFF2-40B4-BE49-F238E27FC236}">
                <a16:creationId xmlns:a16="http://schemas.microsoft.com/office/drawing/2014/main" id="{65FD8F2F-F8E6-45EA-BD49-24D8EBFB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71675"/>
            <a:ext cx="78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rPr>
              <a:t>调用方</a:t>
            </a:r>
          </a:p>
        </p:txBody>
      </p:sp>
      <p:sp>
        <p:nvSpPr>
          <p:cNvPr id="15" name="caller-body">
            <a:extLst xmlns:a="http://schemas.openxmlformats.org/drawingml/2006/main">
              <a:ext uri="{FF2B5EF4-FFF2-40B4-BE49-F238E27FC236}">
                <a16:creationId xmlns:a16="http://schemas.microsoft.com/office/drawing/2014/main" id="{8FA1023E-3B7C-4612-8324-639D4D0C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71675"/>
            <a:ext cx="590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Agent  /  AMOS  /  算法管理控制台</a:t>
            </a:r>
          </a:p>
        </p:txBody>
      </p:sp>
      <p:sp>
        <p:nvSpPr>
          <p:cNvPr id="16" name="service-layer">
            <a:extLst xmlns:a="http://schemas.openxmlformats.org/drawingml/2006/main">
              <a:ext uri="{FF2B5EF4-FFF2-40B4-BE49-F238E27FC236}">
                <a16:creationId xmlns:a16="http://schemas.microsoft.com/office/drawing/2014/main" id="{2C1D8B0C-8B06-420C-B019-07B24B14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00325"/>
            <a:ext cx="7239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CF9FC"/>
          </a:solidFill>
          <a:ln xmlns:a="http://schemas.openxmlformats.org/drawingml/2006/main" w="9525">
            <a:solidFill>
              <a:srgbClr val="B9E7F3"/>
            </a:solidFill>
            <a:prstDash val="solid"/>
          </a:ln>
        </p:spPr>
      </p:sp>
      <p:sp>
        <p:nvSpPr>
          <p:cNvPr id="17" name="service-title">
            <a:extLst xmlns:a="http://schemas.openxmlformats.org/drawingml/2006/main">
              <a:ext uri="{FF2B5EF4-FFF2-40B4-BE49-F238E27FC236}">
                <a16:creationId xmlns:a16="http://schemas.microsoft.com/office/drawing/2014/main" id="{F2390943-F381-4254-A28C-F5F96D6D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7652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服务接入层</a:t>
            </a:r>
          </a:p>
        </p:txBody>
      </p:sp>
      <p:sp>
        <p:nvSpPr>
          <p:cNvPr id="18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C6908DBE-A380-42C0-9B3F-311E6ACD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76525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管理  部署  执行  文件  健康  监控与追踪</a:t>
            </a:r>
          </a:p>
        </p:txBody>
      </p:sp>
      <p:cxnSp>
        <p:nvCxnSpPr>
          <p:cNvPr id="80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4524375" y="23431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AE0"/>
            </a:solidFill>
            <a:prstDash val="solid"/>
            <a:headEnd type="triangle" w="sm" len="sm"/>
          </a:ln>
        </p:spPr>
      </p:cxnSp>
      <p:sp>
        <p:nvSpPr>
          <p:cNvPr id="20" name="management-layer">
            <a:extLst xmlns:a="http://schemas.openxmlformats.org/drawingml/2006/main">
              <a:ext uri="{FF2B5EF4-FFF2-40B4-BE49-F238E27FC236}">
                <a16:creationId xmlns:a16="http://schemas.microsoft.com/office/drawing/2014/main" id="{1F773EE7-14D8-447E-B28D-FB45EC91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00425"/>
            <a:ext cx="195262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2F0FF"/>
          </a:solidFill>
          <a:ln xmlns:a="http://schemas.openxmlformats.org/drawingml/2006/main" w="9525">
            <a:solidFill>
              <a:srgbClr val="D7D0FF"/>
            </a:solidFill>
            <a:prstDash val="solid"/>
          </a:ln>
        </p:spPr>
      </p:sp>
      <p:sp>
        <p:nvSpPr>
          <p:cNvPr id="21" name="management-title">
            <a:extLst xmlns:a="http://schemas.openxmlformats.org/drawingml/2006/main">
              <a:ext uri="{FF2B5EF4-FFF2-40B4-BE49-F238E27FC236}">
                <a16:creationId xmlns:a16="http://schemas.microsoft.com/office/drawing/2014/main" id="{5FD53DE4-A891-4A07-ABAD-3D75E037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147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166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166F5"/>
                </a:solidFill>
                <a:latin typeface="Microsoft YaHei"/>
                <a:ea typeface="Microsoft YaHei"/>
                <a:cs typeface="Microsoft YaHei"/>
              </a:rPr>
              <a:t>算法管理层</a:t>
            </a:r>
          </a:p>
        </p:txBody>
      </p:sp>
      <p:sp>
        <p:nvSpPr>
          <p:cNvPr id="22" name="management-body">
            <a:extLst xmlns:a="http://schemas.openxmlformats.org/drawingml/2006/main">
              <a:ext uri="{FF2B5EF4-FFF2-40B4-BE49-F238E27FC236}">
                <a16:creationId xmlns:a16="http://schemas.microsoft.com/office/drawing/2014/main" id="{7747DC29-FF46-49EB-B2AC-127C62D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注册表与版本状态</a:t>
            </a:r>
          </a:p>
          <a:p xmlns:a="http://schemas.openxmlformats.org/drawingml/2006/main"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功能映射与部署记录</a:t>
            </a:r>
          </a:p>
          <a:p xmlns:a="http://schemas.openxmlformats.org/drawingml/2006/main"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生命周期管理</a:t>
            </a:r>
          </a:p>
        </p:txBody>
      </p:sp>
      <p:sp>
        <p:nvSpPr>
          <p:cNvPr id="23" name="runtime-layer">
            <a:extLst xmlns:a="http://schemas.openxmlformats.org/drawingml/2006/main">
              <a:ext uri="{FF2B5EF4-FFF2-40B4-BE49-F238E27FC236}">
                <a16:creationId xmlns:a16="http://schemas.microsoft.com/office/drawing/2014/main" id="{D4E349DC-2EE0-4EBC-9E65-2D34169C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28575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7AE0"/>
            </a:solidFill>
            <a:prstDash val="solid"/>
          </a:ln>
        </p:spPr>
      </p:sp>
      <p:sp>
        <p:nvSpPr>
          <p:cNvPr id="24" name="runtime-title">
            <a:extLst xmlns:a="http://schemas.openxmlformats.org/drawingml/2006/main">
              <a:ext uri="{FF2B5EF4-FFF2-40B4-BE49-F238E27FC236}">
                <a16:creationId xmlns:a16="http://schemas.microsoft.com/office/drawing/2014/main" id="{BE3A1A51-E3B2-4E36-84EA-B980B5DA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385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rPr>
              <a:t>统一运行层</a:t>
            </a:r>
          </a:p>
        </p:txBody>
      </p:sp>
      <p:sp>
        <p:nvSpPr>
          <p:cNvPr id="25" name="runtime-body">
            <a:extLst xmlns:a="http://schemas.openxmlformats.org/drawingml/2006/main">
              <a:ext uri="{FF2B5EF4-FFF2-40B4-BE49-F238E27FC236}">
                <a16:creationId xmlns:a16="http://schemas.microsoft.com/office/drawing/2014/main" id="{BBACD991-E55D-49DB-8774-1308AC87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90950"/>
            <a:ext cx="234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请求校验  状态检查</a:t>
            </a:r>
          </a:p>
          <a:p xmlns:a="http://schemas.openxmlformats.org/drawingml/2006/main">
            <a:pPr algn="ctr">
              <a:def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Runner选择  加载与缓存</a:t>
            </a:r>
          </a:p>
          <a:p xmlns:a="http://schemas.openxmlformats.org/drawingml/2006/main">
            <a:pPr algn="ctr">
              <a:def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推理执行  输出校验与归一化</a:t>
            </a:r>
          </a:p>
          <a:p xmlns:a="http://schemas.openxmlformats.org/drawingml/2006/main">
            <a:pPr algn="ctr">
              <a:def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审计记录</a:t>
            </a:r>
          </a:p>
        </p:txBody>
      </p:sp>
      <p:sp>
        <p:nvSpPr>
          <p:cNvPr id="26" name="asset-layer">
            <a:extLst xmlns:a="http://schemas.openxmlformats.org/drawingml/2006/main">
              <a:ext uri="{FF2B5EF4-FFF2-40B4-BE49-F238E27FC236}">
                <a16:creationId xmlns:a16="http://schemas.microsoft.com/office/drawing/2014/main" id="{3E554696-422C-45BB-8978-B8B23E66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95262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CFAF7"/>
          </a:solidFill>
          <a:ln xmlns:a="http://schemas.openxmlformats.org/drawingml/2006/main" w="9525">
            <a:solidFill>
              <a:srgbClr val="BFEADE"/>
            </a:solidFill>
            <a:prstDash val="solid"/>
          </a:ln>
        </p:spPr>
      </p:sp>
      <p:sp>
        <p:nvSpPr>
          <p:cNvPr id="27" name="asset-title">
            <a:extLst xmlns:a="http://schemas.openxmlformats.org/drawingml/2006/main">
              <a:ext uri="{FF2B5EF4-FFF2-40B4-BE49-F238E27FC236}">
                <a16:creationId xmlns:a16="http://schemas.microsoft.com/office/drawing/2014/main" id="{BE7C1993-ACF8-4FB2-A23B-80357EFD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147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BE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BEAA"/>
                </a:solidFill>
                <a:latin typeface="Microsoft YaHei"/>
                <a:ea typeface="Microsoft YaHei"/>
                <a:cs typeface="Microsoft YaHei"/>
              </a:rPr>
              <a:t>算法资产层</a:t>
            </a:r>
          </a:p>
        </p:txBody>
      </p:sp>
      <p:sp>
        <p:nvSpPr>
          <p:cNvPr id="28" name="asset-body">
            <a:extLst xmlns:a="http://schemas.openxmlformats.org/drawingml/2006/main">
              <a:ext uri="{FF2B5EF4-FFF2-40B4-BE49-F238E27FC236}">
                <a16:creationId xmlns:a16="http://schemas.microsoft.com/office/drawing/2014/main" id="{EAE21A52-DC98-494E-9237-F57584F7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481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7997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Algorithm Card 与 Schema</a:t>
            </a:r>
          </a:p>
          <a:p xmlns:a="http://schemas.openxmlformats.org/drawingml/2006/main"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模型文件、配置与依赖</a:t>
            </a:r>
          </a:p>
          <a:p xmlns:a="http://schemas.openxmlformats.org/drawingml/2006/main">
            <a:pPr algn="l">
              <a:def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Golden Case 验证样例</a:t>
            </a:r>
          </a:p>
        </p:txBody>
      </p:sp>
      <p:cxnSp>
        <p:nvCxnSpPr>
          <p:cNvPr id="90" name=""/>
          <p:cNvCxnSpPr>
            <a:stCxn xmlns:a="http://schemas.openxmlformats.org/drawingml/2006/main" id="16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4524375" y="30956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AE0"/>
            </a:solidFill>
            <a:prstDash val="solid"/>
            <a:head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857500" y="39814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AE0"/>
            </a:solidFill>
            <a:prstDash val="solid"/>
            <a:head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26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5953125" y="39814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AE0"/>
            </a:solidFill>
            <a:prstDash val="solid"/>
            <a:headEnd type="triangle" w="sm" len="sm"/>
          </a:ln>
        </p:spPr>
      </p:cxnSp>
      <p:sp>
        <p:nvSpPr>
          <p:cNvPr id="32" name="loader-cache">
            <a:extLst xmlns:a="http://schemas.openxmlformats.org/drawingml/2006/main">
              <a:ext uri="{FF2B5EF4-FFF2-40B4-BE49-F238E27FC236}">
                <a16:creationId xmlns:a16="http://schemas.microsoft.com/office/drawing/2014/main" id="{06FF8B66-6E83-4371-8004-49A2EC9C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10125"/>
            <a:ext cx="4191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FD7F5"/>
            </a:solidFill>
            <a:prstDash val="solid"/>
          </a:ln>
        </p:spPr>
      </p:sp>
      <p:sp>
        <p:nvSpPr>
          <p:cNvPr id="33" name="loader-title">
            <a:extLst xmlns:a="http://schemas.openxmlformats.org/drawingml/2006/main">
              <a:ext uri="{FF2B5EF4-FFF2-40B4-BE49-F238E27FC236}">
                <a16:creationId xmlns:a16="http://schemas.microsoft.com/office/drawing/2014/main" id="{6E0B5CFA-D30B-4336-B593-F00776CF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577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7843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7AE0"/>
                </a:solidFill>
                <a:latin typeface="Microsoft YaHei"/>
                <a:ea typeface="Microsoft YaHei"/>
                <a:cs typeface="Microsoft YaHei"/>
              </a:rPr>
              <a:t>Model Loader  +  Runner Cache</a:t>
            </a:r>
          </a:p>
        </p:txBody>
      </p:sp>
      <p:sp>
        <p:nvSpPr>
          <p:cNvPr id="34" name="loader-body">
            <a:extLst xmlns:a="http://schemas.openxmlformats.org/drawingml/2006/main">
              <a:ext uri="{FF2B5EF4-FFF2-40B4-BE49-F238E27FC236}">
                <a16:creationId xmlns:a16="http://schemas.microsoft.com/office/drawing/2014/main" id="{6DEA075E-515E-4A5D-8B6E-F0F5A68D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577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77381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显式预加载  按需加载  缓存复用  卸载释放</a:t>
            </a:r>
          </a:p>
        </p:txBody>
      </p:sp>
      <p:cxnSp>
        <p:nvCxnSpPr>
          <p:cNvPr id="96" name=""/>
          <p:cNvCxnSpPr>
            <a:stCxn xmlns:a="http://schemas.openxmlformats.org/drawingml/2006/main" id="23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4524375" y="462915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AE0"/>
            </a:solidFill>
            <a:prstDash val="solid"/>
            <a:headEnd type="triangle" w="sm" len="sm"/>
          </a:ln>
        </p:spPr>
      </p:cxnSp>
      <p:sp>
        <p:nvSpPr>
          <p:cNvPr id="36" name="node-layer">
            <a:extLst xmlns:a="http://schemas.openxmlformats.org/drawingml/2006/main">
              <a:ext uri="{FF2B5EF4-FFF2-40B4-BE49-F238E27FC236}">
                <a16:creationId xmlns:a16="http://schemas.microsoft.com/office/drawing/2014/main" id="{04C1739D-93DE-46EF-9A05-D2BAB23E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14975"/>
            <a:ext cx="72390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C9D5DF"/>
            </a:solidFill>
            <a:prstDash val="solid"/>
          </a:ln>
        </p:spPr>
      </p:sp>
      <p:sp>
        <p:nvSpPr>
          <p:cNvPr id="37" name="node-title">
            <a:extLst xmlns:a="http://schemas.openxmlformats.org/drawingml/2006/main">
              <a:ext uri="{FF2B5EF4-FFF2-40B4-BE49-F238E27FC236}">
                <a16:creationId xmlns:a16="http://schemas.microsoft.com/office/drawing/2014/main" id="{3B85914E-EC80-4E8A-97FD-B3261161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911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033"/>
                </a:solidFill>
                <a:latin typeface="Microsoft YaHei"/>
                <a:ea typeface="Microsoft YaHei"/>
                <a:cs typeface="Microsoft YaHei"/>
              </a:rPr>
              <a:t>节点执行层</a:t>
            </a:r>
          </a:p>
        </p:txBody>
      </p:sp>
      <p:sp>
        <p:nvSpPr>
          <p:cNvPr id="38" name="node-body">
            <a:extLst xmlns:a="http://schemas.openxmlformats.org/drawingml/2006/main">
              <a:ext uri="{FF2B5EF4-FFF2-40B4-BE49-F238E27FC236}">
                <a16:creationId xmlns:a16="http://schemas.microsoft.com/office/drawing/2014/main" id="{88992886-3ED0-4720-948F-5D15036E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91175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B90"/>
                </a:solidFill>
                <a:latin typeface="Microsoft YaHei"/>
                <a:ea typeface="Microsoft YaHei"/>
                <a:cs typeface="Microsoft YaHei"/>
              </a:rPr>
              <a:t>ONNX Runner    Python HTTP Runner    CPU / GPU / 受控服务节点</a:t>
            </a:r>
          </a:p>
        </p:txBody>
      </p:sp>
      <p:cxnSp>
        <p:nvCxnSpPr>
          <p:cNvPr id="100" name=""/>
          <p:cNvCxnSpPr>
            <a:stCxn xmlns:a="http://schemas.openxmlformats.org/drawingml/2006/main" id="32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4524375" y="52673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AE0"/>
            </a:solidFill>
            <a:prstDash val="solid"/>
            <a:headEnd type="triangle" w="sm" len="sm"/>
          </a:ln>
        </p:spPr>
      </p:cxnSp>
      <p:sp>
        <p:nvSpPr>
          <p:cNvPr id="40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8B62B041-1717-45A1-8A01-F8D2BC56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91225"/>
            <a:ext cx="4381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A9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AAA"/>
                </a:solidFill>
                <a:latin typeface="Microsoft YaHei"/>
                <a:ea typeface="Microsoft YaHei"/>
                <a:cs typeface="Microsoft YaHei"/>
              </a:rPr>
              <a:t>中心维护资产与状态，目标节点负责模型加载和实际推理</a:t>
            </a:r>
          </a:p>
        </p:txBody>
      </p:sp>
      <p:sp>
        <p:nvSpPr>
          <p:cNvPr id="41" name="process-panel">
            <a:extLst xmlns:a="http://schemas.openxmlformats.org/drawingml/2006/main">
              <a:ext uri="{FF2B5EF4-FFF2-40B4-BE49-F238E27FC236}">
                <a16:creationId xmlns:a16="http://schemas.microsoft.com/office/drawing/2014/main" id="{EDCF207E-3EEC-4975-80C4-5ACD94B7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81125"/>
            <a:ext cx="2867025" cy="4762500"/>
          </a:xfrm>
          <a:prstGeom xmlns:a="http://schemas.openxmlformats.org/drawingml/2006/main" prst="roundRect">
            <a:avLst>
              <a:gd name="adj" fmla="val 5980"/>
            </a:avLst>
          </a:prstGeom>
          <a:solidFill xmlns:a="http://schemas.openxmlformats.org/drawingml/2006/main">
            <a:srgbClr val="071B2A"/>
          </a:solidFill>
          <a:ln xmlns:a="http://schemas.openxmlformats.org/drawingml/2006/main" w="9525">
            <a:solidFill>
              <a:srgbClr val="071B2A"/>
            </a:solidFill>
            <a:prstDash val="solid"/>
          </a:ln>
        </p:spPr>
      </p:sp>
      <p:sp>
        <p:nvSpPr>
          <p:cNvPr id="42" name="process-label">
            <a:extLst xmlns:a="http://schemas.openxmlformats.org/drawingml/2006/main">
              <a:ext uri="{FF2B5EF4-FFF2-40B4-BE49-F238E27FC236}">
                <a16:creationId xmlns:a16="http://schemas.microsoft.com/office/drawing/2014/main" id="{51D697D6-F21B-4EFF-9346-945F2367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71625"/>
            <a:ext cx="1000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5E5"/>
          </a:solidFill>
          <a:ln xmlns:a="http://schemas.openxmlformats.org/drawingml/2006/main" w="9525">
            <a:solidFill>
              <a:srgbClr val="19B5E5"/>
            </a:solidFill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B2A"/>
                </a:solidFill>
                <a:latin typeface="Microsoft YaHei"/>
                <a:ea typeface="Microsoft YaHei"/>
                <a:cs typeface="Microsoft YaHei"/>
              </a:rPr>
              <a:t>运行主线</a:t>
            </a:r>
          </a:p>
        </p:txBody>
      </p:sp>
      <p:sp>
        <p:nvSpPr>
          <p:cNvPr id="43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D4F476DD-A066-4EB2-AEB9-0945614B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5262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算法进入可调用状态</a:t>
            </a:r>
          </a:p>
        </p:txBody>
      </p:sp>
      <p:sp>
        <p:nvSpPr>
          <p:cNvPr id="44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12564BC-CD04-416D-AB83-7925F80E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57450"/>
            <a:ext cx="3429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66F5"/>
          </a:solidFill>
          <a:ln xmlns:a="http://schemas.openxmlformats.org/drawingml/2006/main" w="9525">
            <a:solidFill>
              <a:srgbClr val="7166F5"/>
            </a:solidFill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9332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5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047D0517-E2F1-40D2-921E-8A4FAEFB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982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算法卡</a:t>
            </a:r>
          </a:p>
        </p:txBody>
      </p:sp>
      <p:sp>
        <p:nvSpPr>
          <p:cNvPr id="46" name="step-1-body">
            <a:extLst xmlns:a="http://schemas.openxmlformats.org/drawingml/2006/main">
              <a:ext uri="{FF2B5EF4-FFF2-40B4-BE49-F238E27FC236}">
                <a16:creationId xmlns:a16="http://schemas.microsoft.com/office/drawing/2014/main" id="{A64AC0CD-9EEA-4D00-BA5C-B9A0A5D4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9226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rPr>
              <a:t>登记标识、I/O Schema、后端类型、资源要求和验证样例</a:t>
            </a:r>
          </a:p>
        </p:txBody>
      </p:sp>
      <p:sp>
        <p:nvSpPr>
          <p:cNvPr id="47" name="divider-1">
            <a:extLst xmlns:a="http://schemas.openxmlformats.org/drawingml/2006/main">
              <a:ext uri="{FF2B5EF4-FFF2-40B4-BE49-F238E27FC236}">
                <a16:creationId xmlns:a16="http://schemas.microsoft.com/office/drawing/2014/main" id="{ED781FA7-E962-433F-9799-60428124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099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052"/>
            </a:solidFill>
            <a:prstDash val="solid"/>
          </a:ln>
        </p:spPr>
      </p:sp>
      <p:sp>
        <p:nvSpPr>
          <p:cNvPr id="4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8D4009CF-E016-4877-875A-1CD9FBF3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43275"/>
            <a:ext cx="3429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AE0"/>
          </a:solidFill>
          <a:ln xmlns:a="http://schemas.openxmlformats.org/drawingml/2006/main" w="9525">
            <a:solidFill>
              <a:srgbClr val="1F7AE0"/>
            </a:solidFill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9332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9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B78EB4C0-7525-456B-A5EB-613B422C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956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注册</a:t>
            </a:r>
          </a:p>
        </p:txBody>
      </p:sp>
      <p:sp>
        <p:nvSpPr>
          <p:cNvPr id="50" name="step-2-body">
            <a:extLst xmlns:a="http://schemas.openxmlformats.org/drawingml/2006/main">
              <a:ext uri="{FF2B5EF4-FFF2-40B4-BE49-F238E27FC236}">
                <a16:creationId xmlns:a16="http://schemas.microsoft.com/office/drawing/2014/main" id="{E73CED1A-B3C0-4EDB-B094-7E6BBF21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099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rPr>
              <a:t>模型或服务校验通过后为 validated，激活后为 active</a:t>
            </a:r>
          </a:p>
        </p:txBody>
      </p:sp>
      <p:sp>
        <p:nvSpPr>
          <p:cNvPr id="51" name="divider-2">
            <a:extLst xmlns:a="http://schemas.openxmlformats.org/drawingml/2006/main">
              <a:ext uri="{FF2B5EF4-FFF2-40B4-BE49-F238E27FC236}">
                <a16:creationId xmlns:a16="http://schemas.microsoft.com/office/drawing/2014/main" id="{80F1A8BE-4A9F-4343-B892-FC8DA81D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957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052"/>
            </a:solidFill>
            <a:prstDash val="solid"/>
          </a:ln>
        </p:spPr>
      </p:sp>
      <p:sp>
        <p:nvSpPr>
          <p:cNvPr id="52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51C242C5-FBDA-4213-B845-C5C52C09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29100"/>
            <a:ext cx="3429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BEAA"/>
          </a:solidFill>
          <a:ln xmlns:a="http://schemas.openxmlformats.org/drawingml/2006/main" w="9525">
            <a:solidFill>
              <a:srgbClr val="20BEAA"/>
            </a:solidFill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9332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3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88180721-A053-43E1-9DD3-FC7D35E6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814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54" name="step-3-body">
            <a:extLst xmlns:a="http://schemas.openxmlformats.org/drawingml/2006/main">
              <a:ext uri="{FF2B5EF4-FFF2-40B4-BE49-F238E27FC236}">
                <a16:creationId xmlns:a16="http://schemas.microsoft.com/office/drawing/2014/main" id="{5D8E755E-B63D-4CA1-989F-3E5B9933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958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0CF"/>
                </a:solidFill>
                <a:latin typeface="Microsoft YaHei"/>
                <a:ea typeface="Microsoft YaHei"/>
                <a:cs typeface="Microsoft YaHei"/>
              </a:rPr>
              <a:t>显式预加载或首次调用按需加载，缓存执行器并回写 ready</a:t>
            </a:r>
          </a:p>
        </p:txBody>
      </p:sp>
      <p:sp>
        <p:nvSpPr>
          <p:cNvPr id="55" name="key-label">
            <a:extLst xmlns:a="http://schemas.openxmlformats.org/drawingml/2006/main">
              <a:ext uri="{FF2B5EF4-FFF2-40B4-BE49-F238E27FC236}">
                <a16:creationId xmlns:a16="http://schemas.microsoft.com/office/drawing/2014/main" id="{4FD95FD4-326C-45B2-9D3C-B4F1F32D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387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91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91A4"/>
                </a:solidFill>
                <a:latin typeface="Microsoft YaHei"/>
                <a:ea typeface="Microsoft YaHei"/>
                <a:cs typeface="Microsoft YaHei"/>
              </a:rPr>
              <a:t>统一资产键</a:t>
            </a:r>
          </a:p>
        </p:txBody>
      </p:sp>
      <p:sp>
        <p:nvSpPr>
          <p:cNvPr id="56" name="key-value">
            <a:extLst xmlns:a="http://schemas.openxmlformats.org/drawingml/2006/main">
              <a:ext uri="{FF2B5EF4-FFF2-40B4-BE49-F238E27FC236}">
                <a16:creationId xmlns:a16="http://schemas.microsoft.com/office/drawing/2014/main" id="{EA9292E6-167E-489A-881A-53CC0DB1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38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algorithm_id + version + backend_type</a:t>
            </a:r>
          </a:p>
        </p:txBody>
      </p:sp>
      <p:sp>
        <p:nvSpPr>
          <p:cNvPr id="57" name="status-validated">
            <a:extLst xmlns:a="http://schemas.openxmlformats.org/drawingml/2006/main">
              <a:ext uri="{FF2B5EF4-FFF2-40B4-BE49-F238E27FC236}">
                <a16:creationId xmlns:a16="http://schemas.microsoft.com/office/drawing/2014/main" id="{B4F789CB-CBDB-4644-BAA1-24A518CA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619750"/>
            <a:ext cx="7810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66F5"/>
          </a:solidFill>
          <a:ln xmlns:a="http://schemas.openxmlformats.org/drawingml/2006/main" w="9525">
            <a:solidFill>
              <a:srgbClr val="7166F5"/>
            </a:solidFill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validated</a:t>
            </a:r>
          </a:p>
        </p:txBody>
      </p:sp>
      <p:sp>
        <p:nvSpPr>
          <p:cNvPr id="58" name="status-active">
            <a:extLst xmlns:a="http://schemas.openxmlformats.org/drawingml/2006/main">
              <a:ext uri="{FF2B5EF4-FFF2-40B4-BE49-F238E27FC236}">
                <a16:creationId xmlns:a16="http://schemas.microsoft.com/office/drawing/2014/main" id="{AD880C4D-CAD8-4B6A-8C5E-E2B210AA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619750"/>
            <a:ext cx="5715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AE0"/>
          </a:solidFill>
          <a:ln xmlns:a="http://schemas.openxmlformats.org/drawingml/2006/main" w="9525">
            <a:solidFill>
              <a:srgbClr val="1F7AE0"/>
            </a:solidFill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active</a:t>
            </a:r>
          </a:p>
        </p:txBody>
      </p:sp>
      <p:sp>
        <p:nvSpPr>
          <p:cNvPr id="59" name="status-ready">
            <a:extLst xmlns:a="http://schemas.openxmlformats.org/drawingml/2006/main">
              <a:ext uri="{FF2B5EF4-FFF2-40B4-BE49-F238E27FC236}">
                <a16:creationId xmlns:a16="http://schemas.microsoft.com/office/drawing/2014/main" id="{FC02B34F-6C0B-442E-98C8-F0F48EB4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9750"/>
            <a:ext cx="5524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BEAA"/>
          </a:solidFill>
          <a:ln xmlns:a="http://schemas.openxmlformats.org/drawingml/2006/main" w="9525">
            <a:solidFill>
              <a:srgbClr val="20BEAA"/>
            </a:solidFill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ready</a:t>
            </a:r>
          </a:p>
        </p:txBody>
      </p:sp>
      <p:cxnSp>
        <p:nvCxnSpPr>
          <p:cNvPr id="121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9677400" y="5738813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8799"/>
            </a:solidFill>
            <a:prstDash val="solid"/>
            <a:headEnd type="triangle" w="sm" len="sm"/>
          </a:ln>
        </p:spPr>
      </p:cxnSp>
      <p:cxnSp>
        <p:nvCxnSpPr>
          <p:cNvPr id="122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10363200" y="573881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8799"/>
            </a:solidFill>
            <a:prstDash val="solid"/>
            <a:headEnd type="triangle" w="sm" len="sm"/>
          </a:ln>
        </p:spPr>
      </p:cxnSp>
      <p:sp>
        <p:nvSpPr>
          <p:cNvPr id="62" name="backend-note">
            <a:extLst xmlns:a="http://schemas.openxmlformats.org/drawingml/2006/main">
              <a:ext uri="{FF2B5EF4-FFF2-40B4-BE49-F238E27FC236}">
                <a16:creationId xmlns:a16="http://schemas.microsoft.com/office/drawing/2014/main" id="{D97D3650-019F-4891-9985-492A5CC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8769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891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1A4"/>
                </a:solidFill>
                <a:latin typeface="Microsoft YaHei"/>
                <a:ea typeface="Microsoft YaHei"/>
                <a:cs typeface="Microsoft YaHei"/>
              </a:rPr>
              <a:t>ONNX 与 Python HTTP 双后端统一管理</a:t>
            </a:r>
          </a:p>
        </p:txBody>
      </p:sp>
    </p:spTree>
    <p:extLst>
      <p:ext uri="{BB962C8B-B14F-4D97-AF65-F5344CB8AC3E}">
        <p14:creationId xmlns:p14="http://schemas.microsoft.com/office/powerpoint/2010/main" val="148951366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2026-09-22T14:50:03.1260000Z</dcterms:created>
  <dcterms:modified xsi:type="dcterms:W3CDTF">2026-09-22T14:50:03.1260000Z</dcterms:modified>
</coreProperties>
</file>