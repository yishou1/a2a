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本页内容依据：</a:t>
            </a:r>
          </a:p>
          <a:p>
            <a:r>
              <a:t>1. 《智能算法模型库设计报告v1.1》总体逻辑架构、算法生命周期、Runner与模型加载设计。</a:t>
            </a:r>
          </a:p>
          <a:p>
            <a:r>
              <a:t>2. 《软件设计说明v1.1》4.1.2 智能算法模型库、5.1.2 C++算法注册与生命周期管理。</a:t>
            </a:r>
          </a:p>
          <a:p>
            <a:r>
              <a:t>3. 《应用功能智能化总体方案v1.4》4.2.1 建设目标、6.1.2 智能算法模型库。</a:t>
            </a:r>
          </a:p>
          <a:p>
            <a:endParaRPr/>
          </a:p>
          <a:p>
            <a:r>
              <a:t>讲解要点：算法卡将模型、Schema、资源要求和验证样例组织成受控资产。注册表维护版本与生命周期。统一运行层根据 backend_type 选择 ONNX Runner 或 Python HTTP Runner，完成加载、推理、结果校验和审计。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337960-0D7C-42A0-8ADD-368FEC014443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21E671-9D0E-4FC8-BDF1-B943EF3FEF12}"/>
              </a:ext>
            </a:extLst>
          </p:cNvPr>
          <p:cNvSpPr>
            <a:spLocks noGrp="1"/>
          </p:cNvSpPr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可装卸算法库：资产管理、统一运行与节点执行</a:t>
            </a:r>
            <a:endParaRPr sz="25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375DB7-6FEF-49FF-8A83-42BE2D829872}"/>
              </a:ext>
            </a:extLst>
          </p:cNvPr>
          <p:cNvSpPr>
            <a:spLocks noGrp="1"/>
          </p:cNvSpPr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3F8F67-EE18-418C-B1F0-B375062DCC6E}"/>
              </a:ext>
            </a:extLst>
          </p:cNvPr>
          <p:cNvSpPr>
            <a:spLocks noGrp="1"/>
          </p:cNvSpPr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5D7858-87AD-4C03-845F-B6C5B3822A68}"/>
              </a:ext>
            </a:extLst>
          </p:cNvPr>
          <p:cNvSpPr>
            <a:spLocks noGrp="1"/>
          </p:cNvSpPr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191060-D767-4DB0-9E25-C8FAB14DA83A}"/>
              </a:ext>
            </a:extLst>
          </p:cNvPr>
          <p:cNvSpPr>
            <a:spLocks noGrp="1"/>
          </p:cNvSpPr>
          <p:nvPr/>
        </p:nvSpPr>
        <p:spPr>
          <a:xfrm>
            <a:off x="594360" y="65653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370238-192C-4D7C-ACB7-D8D413384796}"/>
              </a:ext>
            </a:extLst>
          </p:cNvPr>
          <p:cNvSpPr>
            <a:spLocks noGrp="1"/>
          </p:cNvSpPr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220954-D8F5-480E-89D8-5F04AC0D6A07}"/>
              </a:ext>
            </a:extLst>
          </p:cNvPr>
          <p:cNvSpPr>
            <a:spLocks noGrp="1"/>
          </p:cNvSpPr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9FB42E-1933-405D-B6C6-95EC2626E86E}"/>
              </a:ext>
            </a:extLst>
          </p:cNvPr>
          <p:cNvSpPr>
            <a:spLocks noGrp="1"/>
          </p:cNvSpPr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总体架构＋运行主线</a:t>
            </a:r>
            <a:endParaRPr sz="950"/>
          </a:p>
        </p:txBody>
      </p:sp>
      <p:sp>
        <p:nvSpPr>
          <p:cNvPr id="11" name="architecture-panel">
            <a:extLst>
              <a:ext uri="{FF2B5EF4-FFF2-40B4-BE49-F238E27FC236}">
                <a16:creationId xmlns:a16="http://schemas.microsoft.com/office/drawing/2014/main" id="{EE05A081-C70B-438C-A77D-E0D1DE64892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790575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rchitecture-label">
            <a:extLst>
              <a:ext uri="{FF2B5EF4-FFF2-40B4-BE49-F238E27FC236}">
                <a16:creationId xmlns:a16="http://schemas.microsoft.com/office/drawing/2014/main" id="{46BC721A-4995-42F7-8F1C-F5482252729C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352550" cy="266700"/>
          </a:xfrm>
          <a:prstGeom prst="roundRect">
            <a:avLst>
              <a:gd name="adj" fmla="val 50000"/>
            </a:avLst>
          </a:prstGeom>
          <a:solidFill>
            <a:srgbClr val="ECF9FC"/>
          </a:solidFill>
          <a:ln w="9525">
            <a:solidFill>
              <a:srgbClr val="ECF9FC"/>
            </a:solidFill>
            <a:prstDash val="solid"/>
          </a:ln>
        </p:spPr>
        <p:txBody>
          <a:bodyPr lIns="38100" tIns="9525" rIns="38100" bIns="9525" anchor="ctr">
            <a:normAutofit/>
          </a:bodyPr>
          <a:lstStyle/>
          <a:p>
            <a:pPr algn="ctr">
              <a:def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总体逻辑架构</a:t>
            </a:r>
          </a:p>
        </p:txBody>
      </p:sp>
      <p:sp>
        <p:nvSpPr>
          <p:cNvPr id="13" name="caller-layer">
            <a:extLst>
              <a:ext uri="{FF2B5EF4-FFF2-40B4-BE49-F238E27FC236}">
                <a16:creationId xmlns:a16="http://schemas.microsoft.com/office/drawing/2014/main" id="{6595FD18-DB26-42AC-AD36-6596E30D236F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7239000" cy="438150"/>
          </a:xfrm>
          <a:prstGeom prst="roundRect">
            <a:avLst>
              <a:gd name="adj" fmla="val 21739"/>
            </a:avLst>
          </a:prstGeom>
          <a:solidFill>
            <a:srgbClr val="EEF5FF"/>
          </a:solidFill>
          <a:ln w="9525">
            <a:solidFill>
              <a:srgbClr val="BF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aller-title">
            <a:extLst>
              <a:ext uri="{FF2B5EF4-FFF2-40B4-BE49-F238E27FC236}">
                <a16:creationId xmlns:a16="http://schemas.microsoft.com/office/drawing/2014/main" id="{F7BFFCF4-D728-4E62-9900-8C286011DF55}"/>
              </a:ext>
            </a:extLst>
          </p:cNvPr>
          <p:cNvSpPr>
            <a:spLocks noGrp="1"/>
          </p:cNvSpPr>
          <p:nvPr/>
        </p:nvSpPr>
        <p:spPr>
          <a:xfrm>
            <a:off x="1066800" y="1971675"/>
            <a:ext cx="7810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调用方</a:t>
            </a:r>
          </a:p>
        </p:txBody>
      </p:sp>
      <p:sp>
        <p:nvSpPr>
          <p:cNvPr id="15" name="caller-body">
            <a:extLst>
              <a:ext uri="{FF2B5EF4-FFF2-40B4-BE49-F238E27FC236}">
                <a16:creationId xmlns:a16="http://schemas.microsoft.com/office/drawing/2014/main" id="{11251784-3DFD-4DE7-835D-8B066F0F1BC1}"/>
              </a:ext>
            </a:extLst>
          </p:cNvPr>
          <p:cNvSpPr>
            <a:spLocks noGrp="1"/>
          </p:cNvSpPr>
          <p:nvPr/>
        </p:nvSpPr>
        <p:spPr>
          <a:xfrm>
            <a:off x="3095624" y="197167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Agent  /  AMOS  /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算法管理控制台</a:t>
            </a:r>
            <a:endParaRPr sz="1350" b="0" dirty="0">
              <a:solidFill>
                <a:srgbClr val="667B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ervice-layer">
            <a:extLst>
              <a:ext uri="{FF2B5EF4-FFF2-40B4-BE49-F238E27FC236}">
                <a16:creationId xmlns:a16="http://schemas.microsoft.com/office/drawing/2014/main" id="{07863346-B7EB-4BD8-917F-98EAB0F887D3}"/>
              </a:ext>
            </a:extLst>
          </p:cNvPr>
          <p:cNvSpPr>
            <a:spLocks noGrp="1"/>
          </p:cNvSpPr>
          <p:nvPr/>
        </p:nvSpPr>
        <p:spPr>
          <a:xfrm>
            <a:off x="904875" y="2600325"/>
            <a:ext cx="7239000" cy="495300"/>
          </a:xfrm>
          <a:prstGeom prst="roundRect">
            <a:avLst>
              <a:gd name="adj" fmla="val 19231"/>
            </a:avLst>
          </a:prstGeom>
          <a:solidFill>
            <a:srgbClr val="ECF9FC"/>
          </a:solidFill>
          <a:ln w="9525">
            <a:solidFill>
              <a:srgbClr val="B9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rvice-title">
            <a:extLst>
              <a:ext uri="{FF2B5EF4-FFF2-40B4-BE49-F238E27FC236}">
                <a16:creationId xmlns:a16="http://schemas.microsoft.com/office/drawing/2014/main" id="{A3523761-FBDA-4145-8D47-C5E0EF42177D}"/>
              </a:ext>
            </a:extLst>
          </p:cNvPr>
          <p:cNvSpPr>
            <a:spLocks noGrp="1"/>
          </p:cNvSpPr>
          <p:nvPr/>
        </p:nvSpPr>
        <p:spPr>
          <a:xfrm>
            <a:off x="1066800" y="2676525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服务接入层</a:t>
            </a:r>
          </a:p>
        </p:txBody>
      </p:sp>
      <p:sp>
        <p:nvSpPr>
          <p:cNvPr id="18" name="service-body">
            <a:extLst>
              <a:ext uri="{FF2B5EF4-FFF2-40B4-BE49-F238E27FC236}">
                <a16:creationId xmlns:a16="http://schemas.microsoft.com/office/drawing/2014/main" id="{E2E9A8E8-BCE5-487C-9443-B942B8197E70}"/>
              </a:ext>
            </a:extLst>
          </p:cNvPr>
          <p:cNvSpPr>
            <a:spLocks noGrp="1"/>
          </p:cNvSpPr>
          <p:nvPr/>
        </p:nvSpPr>
        <p:spPr>
          <a:xfrm>
            <a:off x="2952750" y="2676525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部署</a:t>
            </a: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执行</a:t>
            </a: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文件</a:t>
            </a: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健康</a:t>
            </a:r>
            <a:r>
              <a:rPr sz="1350" b="0" dirty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b="0" dirty="0" err="1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监控与追踪</a:t>
            </a:r>
            <a:endParaRPr sz="1350" b="0" dirty="0">
              <a:solidFill>
                <a:srgbClr val="667B9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0" name="直接箭头连接符 79"/>
          <p:cNvCxnSpPr>
            <a:stCxn id="13" idx="2"/>
            <a:endCxn id="16" idx="0"/>
          </p:cNvCxnSpPr>
          <p:nvPr/>
        </p:nvCxnSpPr>
        <p:spPr>
          <a:xfrm>
            <a:off x="4524375" y="2343150"/>
            <a:ext cx="0" cy="257175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sp>
        <p:nvSpPr>
          <p:cNvPr id="20" name="management-layer">
            <a:extLst>
              <a:ext uri="{FF2B5EF4-FFF2-40B4-BE49-F238E27FC236}">
                <a16:creationId xmlns:a16="http://schemas.microsoft.com/office/drawing/2014/main" id="{EEF2A6A4-35AE-49E0-917F-5D4A1E72F540}"/>
              </a:ext>
            </a:extLst>
          </p:cNvPr>
          <p:cNvSpPr>
            <a:spLocks noGrp="1"/>
          </p:cNvSpPr>
          <p:nvPr/>
        </p:nvSpPr>
        <p:spPr>
          <a:xfrm>
            <a:off x="904875" y="3400425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2F0FF"/>
          </a:solidFill>
          <a:ln w="9525">
            <a:solidFill>
              <a:srgbClr val="D7D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management-title">
            <a:extLst>
              <a:ext uri="{FF2B5EF4-FFF2-40B4-BE49-F238E27FC236}">
                <a16:creationId xmlns:a16="http://schemas.microsoft.com/office/drawing/2014/main" id="{99D85414-4B42-4E40-8B60-9BAA51E89B5B}"/>
              </a:ext>
            </a:extLst>
          </p:cNvPr>
          <p:cNvSpPr>
            <a:spLocks noGrp="1"/>
          </p:cNvSpPr>
          <p:nvPr/>
        </p:nvSpPr>
        <p:spPr>
          <a:xfrm>
            <a:off x="1066800" y="35147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rPr>
              <a:t>算法管理层</a:t>
            </a:r>
          </a:p>
        </p:txBody>
      </p:sp>
      <p:sp>
        <p:nvSpPr>
          <p:cNvPr id="22" name="management-body">
            <a:extLst>
              <a:ext uri="{FF2B5EF4-FFF2-40B4-BE49-F238E27FC236}">
                <a16:creationId xmlns:a16="http://schemas.microsoft.com/office/drawing/2014/main" id="{3F431F9E-5D94-48CA-B051-A88B34724D99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1619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22"/>
          </a:bodyPr>
          <a:lstStyle/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注册表与版本状态</a:t>
            </a:r>
          </a:p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功能映射与部署记录</a:t>
            </a:r>
          </a:p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生命周期管理</a:t>
            </a:r>
          </a:p>
        </p:txBody>
      </p:sp>
      <p:sp>
        <p:nvSpPr>
          <p:cNvPr id="23" name="runtime-layer">
            <a:extLst>
              <a:ext uri="{FF2B5EF4-FFF2-40B4-BE49-F238E27FC236}">
                <a16:creationId xmlns:a16="http://schemas.microsoft.com/office/drawing/2014/main" id="{41439D8E-FAA4-4099-91EC-5B6D9DBEEF7C}"/>
              </a:ext>
            </a:extLst>
          </p:cNvPr>
          <p:cNvSpPr>
            <a:spLocks noGrp="1"/>
          </p:cNvSpPr>
          <p:nvPr/>
        </p:nvSpPr>
        <p:spPr>
          <a:xfrm>
            <a:off x="3095625" y="3333750"/>
            <a:ext cx="285750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1F7A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untime-title">
            <a:extLst>
              <a:ext uri="{FF2B5EF4-FFF2-40B4-BE49-F238E27FC236}">
                <a16:creationId xmlns:a16="http://schemas.microsoft.com/office/drawing/2014/main" id="{39378453-F4D3-496C-A0D8-24B55290C7EC}"/>
              </a:ext>
            </a:extLst>
          </p:cNvPr>
          <p:cNvSpPr>
            <a:spLocks noGrp="1"/>
          </p:cNvSpPr>
          <p:nvPr/>
        </p:nvSpPr>
        <p:spPr>
          <a:xfrm>
            <a:off x="3286125" y="34385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5238"/>
          </a:bodyPr>
          <a:lstStyle/>
          <a:p>
            <a:pPr algn="ctr">
              <a:def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统一运行层</a:t>
            </a:r>
          </a:p>
        </p:txBody>
      </p:sp>
      <p:sp>
        <p:nvSpPr>
          <p:cNvPr id="25" name="runtime-body">
            <a:extLst>
              <a:ext uri="{FF2B5EF4-FFF2-40B4-BE49-F238E27FC236}">
                <a16:creationId xmlns:a16="http://schemas.microsoft.com/office/drawing/2014/main" id="{2B4EE420-DE85-4CE9-BB22-DCF206393AFB}"/>
              </a:ext>
            </a:extLst>
          </p:cNvPr>
          <p:cNvSpPr>
            <a:spLocks noGrp="1"/>
          </p:cNvSpPr>
          <p:nvPr/>
        </p:nvSpPr>
        <p:spPr>
          <a:xfrm>
            <a:off x="3352800" y="3790950"/>
            <a:ext cx="23431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8542"/>
          </a:bodyPr>
          <a:lstStyle/>
          <a:p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请求校验  状态检查</a:t>
            </a:r>
          </a:p>
          <a:p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Runner选择  加载与缓存</a:t>
            </a:r>
          </a:p>
          <a:p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推理执行  输出校验与归一化</a:t>
            </a:r>
          </a:p>
          <a:p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26" name="asset-layer">
            <a:extLst>
              <a:ext uri="{FF2B5EF4-FFF2-40B4-BE49-F238E27FC236}">
                <a16:creationId xmlns:a16="http://schemas.microsoft.com/office/drawing/2014/main" id="{CD4FBB10-2AF6-434A-A70E-58724678C48D}"/>
              </a:ext>
            </a:extLst>
          </p:cNvPr>
          <p:cNvSpPr>
            <a:spLocks noGrp="1"/>
          </p:cNvSpPr>
          <p:nvPr/>
        </p:nvSpPr>
        <p:spPr>
          <a:xfrm>
            <a:off x="6191250" y="3400425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ECFAF7"/>
          </a:solidFill>
          <a:ln w="9525">
            <a:solidFill>
              <a:srgbClr val="BFEA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sset-title">
            <a:extLst>
              <a:ext uri="{FF2B5EF4-FFF2-40B4-BE49-F238E27FC236}">
                <a16:creationId xmlns:a16="http://schemas.microsoft.com/office/drawing/2014/main" id="{B8DB46DB-2719-4CD2-A05D-669A0DEEB8DD}"/>
              </a:ext>
            </a:extLst>
          </p:cNvPr>
          <p:cNvSpPr>
            <a:spLocks noGrp="1"/>
          </p:cNvSpPr>
          <p:nvPr/>
        </p:nvSpPr>
        <p:spPr>
          <a:xfrm>
            <a:off x="6353175" y="35147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rPr>
              <a:t>算法资产层</a:t>
            </a:r>
          </a:p>
        </p:txBody>
      </p:sp>
      <p:sp>
        <p:nvSpPr>
          <p:cNvPr id="28" name="asset-body">
            <a:extLst>
              <a:ext uri="{FF2B5EF4-FFF2-40B4-BE49-F238E27FC236}">
                <a16:creationId xmlns:a16="http://schemas.microsoft.com/office/drawing/2014/main" id="{80C648F3-1CDF-4A21-8AE1-890A51000BF1}"/>
              </a:ext>
            </a:extLst>
          </p:cNvPr>
          <p:cNvSpPr>
            <a:spLocks noGrp="1"/>
          </p:cNvSpPr>
          <p:nvPr/>
        </p:nvSpPr>
        <p:spPr>
          <a:xfrm>
            <a:off x="6353175" y="3848100"/>
            <a:ext cx="1619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79978"/>
          </a:bodyPr>
          <a:lstStyle/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Algorithm Card 与 Schema</a:t>
            </a:r>
          </a:p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模型文件、配置与依赖</a:t>
            </a:r>
          </a:p>
          <a:p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Golden Case 验证样例</a:t>
            </a:r>
          </a:p>
        </p:txBody>
      </p:sp>
      <p:cxnSp>
        <p:nvCxnSpPr>
          <p:cNvPr id="90" name="直接箭头连接符 89"/>
          <p:cNvCxnSpPr>
            <a:stCxn id="16" idx="2"/>
            <a:endCxn id="23" idx="0"/>
          </p:cNvCxnSpPr>
          <p:nvPr/>
        </p:nvCxnSpPr>
        <p:spPr>
          <a:xfrm>
            <a:off x="4524375" y="3095625"/>
            <a:ext cx="0" cy="238125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cxnSp>
        <p:nvCxnSpPr>
          <p:cNvPr id="91" name="直接箭头连接符 90"/>
          <p:cNvCxnSpPr>
            <a:stCxn id="20" idx="3"/>
            <a:endCxn id="23" idx="1"/>
          </p:cNvCxnSpPr>
          <p:nvPr/>
        </p:nvCxnSpPr>
        <p:spPr>
          <a:xfrm>
            <a:off x="2857500" y="3981450"/>
            <a:ext cx="238125" cy="0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cxnSp>
        <p:nvCxnSpPr>
          <p:cNvPr id="92" name="直接箭头连接符 91"/>
          <p:cNvCxnSpPr>
            <a:stCxn id="26" idx="1"/>
            <a:endCxn id="23" idx="3"/>
          </p:cNvCxnSpPr>
          <p:nvPr/>
        </p:nvCxnSpPr>
        <p:spPr>
          <a:xfrm flipH="1">
            <a:off x="5953125" y="3981450"/>
            <a:ext cx="238125" cy="0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sp>
        <p:nvSpPr>
          <p:cNvPr id="32" name="loader-cache">
            <a:extLst>
              <a:ext uri="{FF2B5EF4-FFF2-40B4-BE49-F238E27FC236}">
                <a16:creationId xmlns:a16="http://schemas.microsoft.com/office/drawing/2014/main" id="{6FDD92B1-96BF-4A52-A824-020CE6E749D1}"/>
              </a:ext>
            </a:extLst>
          </p:cNvPr>
          <p:cNvSpPr>
            <a:spLocks noGrp="1"/>
          </p:cNvSpPr>
          <p:nvPr/>
        </p:nvSpPr>
        <p:spPr>
          <a:xfrm>
            <a:off x="2428875" y="4810125"/>
            <a:ext cx="4191000" cy="457200"/>
          </a:xfrm>
          <a:prstGeom prst="roundRect">
            <a:avLst>
              <a:gd name="adj" fmla="val 20833"/>
            </a:avLst>
          </a:prstGeom>
          <a:solidFill>
            <a:srgbClr val="EEF5FF"/>
          </a:solidFill>
          <a:ln w="9525">
            <a:solidFill>
              <a:srgbClr val="BFD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oader-title">
            <a:extLst>
              <a:ext uri="{FF2B5EF4-FFF2-40B4-BE49-F238E27FC236}">
                <a16:creationId xmlns:a16="http://schemas.microsoft.com/office/drawing/2014/main" id="{F847F5AF-B0FA-48E0-989B-19522773F40E}"/>
              </a:ext>
            </a:extLst>
          </p:cNvPr>
          <p:cNvSpPr>
            <a:spLocks noGrp="1"/>
          </p:cNvSpPr>
          <p:nvPr/>
        </p:nvSpPr>
        <p:spPr>
          <a:xfrm>
            <a:off x="2619375" y="485775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8431"/>
          </a:bodyPr>
          <a:lstStyle/>
          <a:p>
            <a:pPr algn="ctr">
              <a:def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Model Loader  +  Runner Cache</a:t>
            </a:r>
          </a:p>
        </p:txBody>
      </p:sp>
      <p:sp>
        <p:nvSpPr>
          <p:cNvPr id="34" name="loader-body">
            <a:extLst>
              <a:ext uri="{FF2B5EF4-FFF2-40B4-BE49-F238E27FC236}">
                <a16:creationId xmlns:a16="http://schemas.microsoft.com/office/drawing/2014/main" id="{673C40F1-3FDA-4783-9E41-D3BFF9F6BB24}"/>
              </a:ext>
            </a:extLst>
          </p:cNvPr>
          <p:cNvSpPr>
            <a:spLocks noGrp="1"/>
          </p:cNvSpPr>
          <p:nvPr/>
        </p:nvSpPr>
        <p:spPr>
          <a:xfrm>
            <a:off x="2619375" y="5057775"/>
            <a:ext cx="3810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7381"/>
          </a:bodyPr>
          <a:lstStyle/>
          <a:p>
            <a:pPr algn="ctr">
              <a:def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显式预加载  按需加载  缓存复用  卸载释放</a:t>
            </a:r>
          </a:p>
        </p:txBody>
      </p:sp>
      <p:cxnSp>
        <p:nvCxnSpPr>
          <p:cNvPr id="96" name="直接箭头连接符 95"/>
          <p:cNvCxnSpPr>
            <a:stCxn id="23" idx="2"/>
            <a:endCxn id="32" idx="0"/>
          </p:cNvCxnSpPr>
          <p:nvPr/>
        </p:nvCxnSpPr>
        <p:spPr>
          <a:xfrm>
            <a:off x="4524375" y="4629150"/>
            <a:ext cx="0" cy="180975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sp>
        <p:nvSpPr>
          <p:cNvPr id="36" name="node-layer">
            <a:extLst>
              <a:ext uri="{FF2B5EF4-FFF2-40B4-BE49-F238E27FC236}">
                <a16:creationId xmlns:a16="http://schemas.microsoft.com/office/drawing/2014/main" id="{DF00B3A9-7661-491C-9292-C392A769EA45}"/>
              </a:ext>
            </a:extLst>
          </p:cNvPr>
          <p:cNvSpPr>
            <a:spLocks noGrp="1"/>
          </p:cNvSpPr>
          <p:nvPr/>
        </p:nvSpPr>
        <p:spPr>
          <a:xfrm>
            <a:off x="904875" y="5514975"/>
            <a:ext cx="7239000" cy="47625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node-title">
            <a:extLst>
              <a:ext uri="{FF2B5EF4-FFF2-40B4-BE49-F238E27FC236}">
                <a16:creationId xmlns:a16="http://schemas.microsoft.com/office/drawing/2014/main" id="{4F326CAE-9DE9-4E7F-9E21-C4BE2F547E4C}"/>
              </a:ext>
            </a:extLst>
          </p:cNvPr>
          <p:cNvSpPr>
            <a:spLocks noGrp="1"/>
          </p:cNvSpPr>
          <p:nvPr/>
        </p:nvSpPr>
        <p:spPr>
          <a:xfrm>
            <a:off x="1066800" y="5591175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节点执行层</a:t>
            </a:r>
          </a:p>
        </p:txBody>
      </p:sp>
      <p:sp>
        <p:nvSpPr>
          <p:cNvPr id="38" name="node-body">
            <a:extLst>
              <a:ext uri="{FF2B5EF4-FFF2-40B4-BE49-F238E27FC236}">
                <a16:creationId xmlns:a16="http://schemas.microsoft.com/office/drawing/2014/main" id="{06858348-2CBF-413A-8B86-5D2D07C03236}"/>
              </a:ext>
            </a:extLst>
          </p:cNvPr>
          <p:cNvSpPr>
            <a:spLocks noGrp="1"/>
          </p:cNvSpPr>
          <p:nvPr/>
        </p:nvSpPr>
        <p:spPr>
          <a:xfrm>
            <a:off x="2428875" y="5591175"/>
            <a:ext cx="547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ONNX Runner    Python HTTP Runner    CPU / GPU / 受控服务节点</a:t>
            </a:r>
          </a:p>
        </p:txBody>
      </p:sp>
      <p:cxnSp>
        <p:nvCxnSpPr>
          <p:cNvPr id="100" name="直接箭头连接符 99"/>
          <p:cNvCxnSpPr>
            <a:stCxn id="32" idx="2"/>
            <a:endCxn id="36" idx="0"/>
          </p:cNvCxnSpPr>
          <p:nvPr/>
        </p:nvCxnSpPr>
        <p:spPr>
          <a:xfrm>
            <a:off x="4524375" y="5267325"/>
            <a:ext cx="0" cy="247650"/>
          </a:xfrm>
          <a:prstGeom prst="straightConnector1">
            <a:avLst/>
          </a:prstGeom>
          <a:ln w="19050">
            <a:solidFill>
              <a:srgbClr val="1F7AE0"/>
            </a:solidFill>
            <a:prstDash val="solid"/>
            <a:tailEnd type="triangle" w="sm" len="sm"/>
          </a:ln>
        </p:spPr>
      </p:cxnSp>
      <p:sp>
        <p:nvSpPr>
          <p:cNvPr id="40" name="architecture-note">
            <a:extLst>
              <a:ext uri="{FF2B5EF4-FFF2-40B4-BE49-F238E27FC236}">
                <a16:creationId xmlns:a16="http://schemas.microsoft.com/office/drawing/2014/main" id="{8CE0B409-3117-462B-9322-8983C0BC3E36}"/>
              </a:ext>
            </a:extLst>
          </p:cNvPr>
          <p:cNvSpPr>
            <a:spLocks noGrp="1"/>
          </p:cNvSpPr>
          <p:nvPr/>
        </p:nvSpPr>
        <p:spPr>
          <a:xfrm>
            <a:off x="2381250" y="5991225"/>
            <a:ext cx="4381500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6389"/>
          </a:bodyPr>
          <a:lstStyle/>
          <a:p>
            <a:pPr algn="ctr">
              <a:def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rPr>
              <a:t>中心维护资产与状态，目标节点负责模型加载和实际推理</a:t>
            </a:r>
          </a:p>
        </p:txBody>
      </p:sp>
      <p:sp>
        <p:nvSpPr>
          <p:cNvPr id="41" name="process-panel">
            <a:extLst>
              <a:ext uri="{FF2B5EF4-FFF2-40B4-BE49-F238E27FC236}">
                <a16:creationId xmlns:a16="http://schemas.microsoft.com/office/drawing/2014/main" id="{92CB19BA-AB36-4872-8D32-B5AF1EF34FA9}"/>
              </a:ext>
            </a:extLst>
          </p:cNvPr>
          <p:cNvSpPr>
            <a:spLocks noGrp="1"/>
          </p:cNvSpPr>
          <p:nvPr/>
        </p:nvSpPr>
        <p:spPr>
          <a:xfrm>
            <a:off x="8705850" y="1381125"/>
            <a:ext cx="2867025" cy="4762500"/>
          </a:xfrm>
          <a:prstGeom prst="roundRect">
            <a:avLst>
              <a:gd name="adj" fmla="val 5980"/>
            </a:avLst>
          </a:prstGeom>
          <a:solidFill>
            <a:srgbClr val="071B2A"/>
          </a:solidFill>
          <a:ln w="9525">
            <a:solidFill>
              <a:srgbClr val="07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process-label">
            <a:extLst>
              <a:ext uri="{FF2B5EF4-FFF2-40B4-BE49-F238E27FC236}">
                <a16:creationId xmlns:a16="http://schemas.microsoft.com/office/drawing/2014/main" id="{701685BD-0016-42B2-BF92-745BDAD7A0FD}"/>
              </a:ext>
            </a:extLst>
          </p:cNvPr>
          <p:cNvSpPr>
            <a:spLocks noGrp="1"/>
          </p:cNvSpPr>
          <p:nvPr/>
        </p:nvSpPr>
        <p:spPr>
          <a:xfrm>
            <a:off x="8896350" y="1571625"/>
            <a:ext cx="1000125" cy="266700"/>
          </a:xfrm>
          <a:prstGeom prst="roundRect">
            <a:avLst>
              <a:gd name="adj" fmla="val 50000"/>
            </a:avLst>
          </a:prstGeom>
          <a:solidFill>
            <a:srgbClr val="19B5E5"/>
          </a:solidFill>
          <a:ln w="9525">
            <a:solidFill>
              <a:srgbClr val="19B5E5"/>
            </a:solidFill>
            <a:prstDash val="solid"/>
          </a:ln>
        </p:spPr>
        <p:txBody>
          <a:bodyPr lIns="38100" tIns="9525" rIns="38100" bIns="9525" anchor="ctr">
            <a:normAutofit/>
          </a:bodyPr>
          <a:lstStyle/>
          <a:p>
            <a:pPr algn="ctr">
              <a:def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rPr>
              <a:t>运行主线</a:t>
            </a:r>
          </a:p>
        </p:txBody>
      </p:sp>
      <p:sp>
        <p:nvSpPr>
          <p:cNvPr id="43" name="process-title">
            <a:extLst>
              <a:ext uri="{FF2B5EF4-FFF2-40B4-BE49-F238E27FC236}">
                <a16:creationId xmlns:a16="http://schemas.microsoft.com/office/drawing/2014/main" id="{E6AB58CB-5556-4D9E-B212-4BF07B5063B1}"/>
              </a:ext>
            </a:extLst>
          </p:cNvPr>
          <p:cNvSpPr>
            <a:spLocks noGrp="1"/>
          </p:cNvSpPr>
          <p:nvPr/>
        </p:nvSpPr>
        <p:spPr>
          <a:xfrm>
            <a:off x="8896350" y="1952625"/>
            <a:ext cx="2428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算法进入可调用状态</a:t>
            </a:r>
          </a:p>
        </p:txBody>
      </p:sp>
      <p:sp>
        <p:nvSpPr>
          <p:cNvPr id="44" name="step-1-number">
            <a:extLst>
              <a:ext uri="{FF2B5EF4-FFF2-40B4-BE49-F238E27FC236}">
                <a16:creationId xmlns:a16="http://schemas.microsoft.com/office/drawing/2014/main" id="{8E4C7A40-7691-4EEA-A876-496A8AF3F564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342900" cy="238125"/>
          </a:xfrm>
          <a:prstGeom prst="roundRect">
            <a:avLst>
              <a:gd name="adj" fmla="val 50000"/>
            </a:avLst>
          </a:prstGeom>
          <a:solidFill>
            <a:srgbClr val="7166F5"/>
          </a:solidFill>
          <a:ln w="9525">
            <a:solidFill>
              <a:srgbClr val="7166F5"/>
            </a:solidFill>
            <a:prstDash val="solid"/>
          </a:ln>
        </p:spPr>
        <p:txBody>
          <a:bodyPr lIns="38100" tIns="9525" rIns="38100" bIns="9525" anchor="ctr">
            <a:normAutofit fontScale="93320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step-1-title">
            <a:extLst>
              <a:ext uri="{FF2B5EF4-FFF2-40B4-BE49-F238E27FC236}">
                <a16:creationId xmlns:a16="http://schemas.microsoft.com/office/drawing/2014/main" id="{55AB5CE5-E0D7-4F0A-A1C6-9B8154538347}"/>
              </a:ext>
            </a:extLst>
          </p:cNvPr>
          <p:cNvSpPr>
            <a:spLocks noGrp="1"/>
          </p:cNvSpPr>
          <p:nvPr/>
        </p:nvSpPr>
        <p:spPr>
          <a:xfrm>
            <a:off x="9334500" y="2409825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算法卡</a:t>
            </a:r>
          </a:p>
        </p:txBody>
      </p:sp>
      <p:sp>
        <p:nvSpPr>
          <p:cNvPr id="46" name="step-1-body">
            <a:extLst>
              <a:ext uri="{FF2B5EF4-FFF2-40B4-BE49-F238E27FC236}">
                <a16:creationId xmlns:a16="http://schemas.microsoft.com/office/drawing/2014/main" id="{85DAEEF1-0981-4A32-804B-785A521AA46A}"/>
              </a:ext>
            </a:extLst>
          </p:cNvPr>
          <p:cNvSpPr>
            <a:spLocks noGrp="1"/>
          </p:cNvSpPr>
          <p:nvPr/>
        </p:nvSpPr>
        <p:spPr>
          <a:xfrm>
            <a:off x="8896350" y="272415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2268"/>
          </a:bodyPr>
          <a:lstStyle/>
          <a:p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登记标识、I/O Schema、后端类型、资源要求和验证样例</a:t>
            </a:r>
          </a:p>
        </p:txBody>
      </p:sp>
      <p:sp>
        <p:nvSpPr>
          <p:cNvPr id="47" name="divider-1">
            <a:extLst>
              <a:ext uri="{FF2B5EF4-FFF2-40B4-BE49-F238E27FC236}">
                <a16:creationId xmlns:a16="http://schemas.microsoft.com/office/drawing/2014/main" id="{15EC5F42-EBBB-47D9-8472-F15F0BAE6812}"/>
              </a:ext>
            </a:extLst>
          </p:cNvPr>
          <p:cNvSpPr>
            <a:spLocks noGrp="1"/>
          </p:cNvSpPr>
          <p:nvPr/>
        </p:nvSpPr>
        <p:spPr>
          <a:xfrm>
            <a:off x="8896350" y="3209925"/>
            <a:ext cx="2381250" cy="0"/>
          </a:xfrm>
          <a:prstGeom prst="line">
            <a:avLst/>
          </a:prstGeom>
          <a:noFill/>
          <a:ln w="9525">
            <a:solidFill>
              <a:srgbClr val="25405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tep-2-number">
            <a:extLst>
              <a:ext uri="{FF2B5EF4-FFF2-40B4-BE49-F238E27FC236}">
                <a16:creationId xmlns:a16="http://schemas.microsoft.com/office/drawing/2014/main" id="{0F6A07E4-D0A7-4E6C-811F-9F59CF5F2448}"/>
              </a:ext>
            </a:extLst>
          </p:cNvPr>
          <p:cNvSpPr>
            <a:spLocks noGrp="1"/>
          </p:cNvSpPr>
          <p:nvPr/>
        </p:nvSpPr>
        <p:spPr>
          <a:xfrm>
            <a:off x="8896350" y="3343275"/>
            <a:ext cx="342900" cy="238125"/>
          </a:xfrm>
          <a:prstGeom prst="roundRect">
            <a:avLst>
              <a:gd name="adj" fmla="val 50000"/>
            </a:avLst>
          </a:prstGeom>
          <a:solidFill>
            <a:srgbClr val="1F7AE0"/>
          </a:solidFill>
          <a:ln w="9525">
            <a:solidFill>
              <a:srgbClr val="1F7AE0"/>
            </a:solidFill>
            <a:prstDash val="solid"/>
          </a:ln>
        </p:spPr>
        <p:txBody>
          <a:bodyPr lIns="38100" tIns="9525" rIns="38100" bIns="9525" anchor="ctr">
            <a:normAutofit fontScale="93320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step-2-title">
            <a:extLst>
              <a:ext uri="{FF2B5EF4-FFF2-40B4-BE49-F238E27FC236}">
                <a16:creationId xmlns:a16="http://schemas.microsoft.com/office/drawing/2014/main" id="{C0F87813-900F-4427-B497-546037926FDC}"/>
              </a:ext>
            </a:extLst>
          </p:cNvPr>
          <p:cNvSpPr>
            <a:spLocks noGrp="1"/>
          </p:cNvSpPr>
          <p:nvPr/>
        </p:nvSpPr>
        <p:spPr>
          <a:xfrm>
            <a:off x="9334500" y="3295650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50" name="step-2-body">
            <a:extLst>
              <a:ext uri="{FF2B5EF4-FFF2-40B4-BE49-F238E27FC236}">
                <a16:creationId xmlns:a16="http://schemas.microsoft.com/office/drawing/2014/main" id="{B49B34D9-784B-44B2-A260-99D113B14417}"/>
              </a:ext>
            </a:extLst>
          </p:cNvPr>
          <p:cNvSpPr>
            <a:spLocks noGrp="1"/>
          </p:cNvSpPr>
          <p:nvPr/>
        </p:nvSpPr>
        <p:spPr>
          <a:xfrm>
            <a:off x="8896350" y="36099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模型或服务校验通过后为 validated，激活后为 active</a:t>
            </a:r>
          </a:p>
        </p:txBody>
      </p:sp>
      <p:sp>
        <p:nvSpPr>
          <p:cNvPr id="51" name="divider-2">
            <a:extLst>
              <a:ext uri="{FF2B5EF4-FFF2-40B4-BE49-F238E27FC236}">
                <a16:creationId xmlns:a16="http://schemas.microsoft.com/office/drawing/2014/main" id="{03A445C8-C1B7-414F-BFF6-BD9014914393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2381250" cy="0"/>
          </a:xfrm>
          <a:prstGeom prst="line">
            <a:avLst/>
          </a:prstGeom>
          <a:noFill/>
          <a:ln w="9525">
            <a:solidFill>
              <a:srgbClr val="25405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tep-3-number">
            <a:extLst>
              <a:ext uri="{FF2B5EF4-FFF2-40B4-BE49-F238E27FC236}">
                <a16:creationId xmlns:a16="http://schemas.microsoft.com/office/drawing/2014/main" id="{CE036822-37EB-4EDF-B9A8-F702293AAE52}"/>
              </a:ext>
            </a:extLst>
          </p:cNvPr>
          <p:cNvSpPr>
            <a:spLocks noGrp="1"/>
          </p:cNvSpPr>
          <p:nvPr/>
        </p:nvSpPr>
        <p:spPr>
          <a:xfrm>
            <a:off x="8896350" y="4229100"/>
            <a:ext cx="342900" cy="238125"/>
          </a:xfrm>
          <a:prstGeom prst="roundRect">
            <a:avLst>
              <a:gd name="adj" fmla="val 50000"/>
            </a:avLst>
          </a:prstGeom>
          <a:solidFill>
            <a:srgbClr val="20BEAA"/>
          </a:solidFill>
          <a:ln w="9525">
            <a:solidFill>
              <a:srgbClr val="20BEAA"/>
            </a:solidFill>
            <a:prstDash val="solid"/>
          </a:ln>
        </p:spPr>
        <p:txBody>
          <a:bodyPr lIns="38100" tIns="9525" rIns="38100" bIns="9525" anchor="ctr">
            <a:normAutofit fontScale="93320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step-3-title">
            <a:extLst>
              <a:ext uri="{FF2B5EF4-FFF2-40B4-BE49-F238E27FC236}">
                <a16:creationId xmlns:a16="http://schemas.microsoft.com/office/drawing/2014/main" id="{CC3EFDC2-E8B1-4B2F-9010-96DB9597AA2D}"/>
              </a:ext>
            </a:extLst>
          </p:cNvPr>
          <p:cNvSpPr>
            <a:spLocks noGrp="1"/>
          </p:cNvSpPr>
          <p:nvPr/>
        </p:nvSpPr>
        <p:spPr>
          <a:xfrm>
            <a:off x="9334500" y="4181475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54" name="step-3-body">
            <a:extLst>
              <a:ext uri="{FF2B5EF4-FFF2-40B4-BE49-F238E27FC236}">
                <a16:creationId xmlns:a16="http://schemas.microsoft.com/office/drawing/2014/main" id="{32A7EE14-11CB-4941-A86F-58AB1887CFFF}"/>
              </a:ext>
            </a:extLst>
          </p:cNvPr>
          <p:cNvSpPr>
            <a:spLocks noGrp="1"/>
          </p:cNvSpPr>
          <p:nvPr/>
        </p:nvSpPr>
        <p:spPr>
          <a:xfrm>
            <a:off x="8896350" y="4495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显式预加载或首次调用按需加载，缓存执行器并回写 ready</a:t>
            </a:r>
          </a:p>
        </p:txBody>
      </p:sp>
      <p:sp>
        <p:nvSpPr>
          <p:cNvPr id="55" name="key-label">
            <a:extLst>
              <a:ext uri="{FF2B5EF4-FFF2-40B4-BE49-F238E27FC236}">
                <a16:creationId xmlns:a16="http://schemas.microsoft.com/office/drawing/2014/main" id="{098B737C-EAEB-49FD-9E70-12B46AC97FA5}"/>
              </a:ext>
            </a:extLst>
          </p:cNvPr>
          <p:cNvSpPr>
            <a:spLocks noGrp="1"/>
          </p:cNvSpPr>
          <p:nvPr/>
        </p:nvSpPr>
        <p:spPr>
          <a:xfrm>
            <a:off x="8896350" y="503872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统一资产键</a:t>
            </a:r>
          </a:p>
        </p:txBody>
      </p:sp>
      <p:sp>
        <p:nvSpPr>
          <p:cNvPr id="56" name="key-value">
            <a:extLst>
              <a:ext uri="{FF2B5EF4-FFF2-40B4-BE49-F238E27FC236}">
                <a16:creationId xmlns:a16="http://schemas.microsoft.com/office/drawing/2014/main" id="{1D5C665A-1C0D-4366-B01F-E96A64265373}"/>
              </a:ext>
            </a:extLst>
          </p:cNvPr>
          <p:cNvSpPr>
            <a:spLocks noGrp="1"/>
          </p:cNvSpPr>
          <p:nvPr/>
        </p:nvSpPr>
        <p:spPr>
          <a:xfrm>
            <a:off x="8896350" y="5238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algorithm_id + version + backend_type</a:t>
            </a:r>
          </a:p>
        </p:txBody>
      </p:sp>
      <p:sp>
        <p:nvSpPr>
          <p:cNvPr id="57" name="status-validated">
            <a:extLst>
              <a:ext uri="{FF2B5EF4-FFF2-40B4-BE49-F238E27FC236}">
                <a16:creationId xmlns:a16="http://schemas.microsoft.com/office/drawing/2014/main" id="{79657FC5-A645-496C-A584-F6C683794820}"/>
              </a:ext>
            </a:extLst>
          </p:cNvPr>
          <p:cNvSpPr>
            <a:spLocks noGrp="1"/>
          </p:cNvSpPr>
          <p:nvPr/>
        </p:nvSpPr>
        <p:spPr>
          <a:xfrm>
            <a:off x="8896350" y="5619750"/>
            <a:ext cx="781050" cy="238125"/>
          </a:xfrm>
          <a:prstGeom prst="roundRect">
            <a:avLst>
              <a:gd name="adj" fmla="val 50000"/>
            </a:avLst>
          </a:prstGeom>
          <a:solidFill>
            <a:srgbClr val="7166F5"/>
          </a:solidFill>
          <a:ln w="9525">
            <a:solidFill>
              <a:srgbClr val="7166F5"/>
            </a:solidFill>
            <a:prstDash val="solid"/>
          </a:ln>
        </p:spPr>
        <p:txBody>
          <a:bodyPr lIns="38100" tIns="9525" rIns="38100" bIns="9525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58" name="status-active">
            <a:extLst>
              <a:ext uri="{FF2B5EF4-FFF2-40B4-BE49-F238E27FC236}">
                <a16:creationId xmlns:a16="http://schemas.microsoft.com/office/drawing/2014/main" id="{6B83B83E-514C-4912-9250-ECD6938B7947}"/>
              </a:ext>
            </a:extLst>
          </p:cNvPr>
          <p:cNvSpPr>
            <a:spLocks noGrp="1"/>
          </p:cNvSpPr>
          <p:nvPr/>
        </p:nvSpPr>
        <p:spPr>
          <a:xfrm>
            <a:off x="9791700" y="5619750"/>
            <a:ext cx="571500" cy="238125"/>
          </a:xfrm>
          <a:prstGeom prst="roundRect">
            <a:avLst>
              <a:gd name="adj" fmla="val 50000"/>
            </a:avLst>
          </a:prstGeom>
          <a:solidFill>
            <a:srgbClr val="1F7AE0"/>
          </a:solidFill>
          <a:ln w="9525">
            <a:solidFill>
              <a:srgbClr val="1F7AE0"/>
            </a:solidFill>
            <a:prstDash val="solid"/>
          </a:ln>
        </p:spPr>
        <p:txBody>
          <a:bodyPr lIns="38100" tIns="9525" rIns="38100" bIns="9525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59" name="status-ready">
            <a:extLst>
              <a:ext uri="{FF2B5EF4-FFF2-40B4-BE49-F238E27FC236}">
                <a16:creationId xmlns:a16="http://schemas.microsoft.com/office/drawing/2014/main" id="{D869385F-4E82-4E84-8FE0-794C30474712}"/>
              </a:ext>
            </a:extLst>
          </p:cNvPr>
          <p:cNvSpPr>
            <a:spLocks noGrp="1"/>
          </p:cNvSpPr>
          <p:nvPr/>
        </p:nvSpPr>
        <p:spPr>
          <a:xfrm>
            <a:off x="10496550" y="5619750"/>
            <a:ext cx="552450" cy="238125"/>
          </a:xfrm>
          <a:prstGeom prst="roundRect">
            <a:avLst>
              <a:gd name="adj" fmla="val 50000"/>
            </a:avLst>
          </a:prstGeom>
          <a:solidFill>
            <a:srgbClr val="20BEAA"/>
          </a:solidFill>
          <a:ln w="9525">
            <a:solidFill>
              <a:srgbClr val="20BEAA"/>
            </a:solidFill>
            <a:prstDash val="solid"/>
          </a:ln>
        </p:spPr>
        <p:txBody>
          <a:bodyPr lIns="38100" tIns="9525" rIns="38100" bIns="9525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cxnSp>
        <p:nvCxnSpPr>
          <p:cNvPr id="121" name="直接箭头连接符 120"/>
          <p:cNvCxnSpPr>
            <a:stCxn id="57" idx="3"/>
            <a:endCxn id="58" idx="1"/>
          </p:cNvCxnSpPr>
          <p:nvPr/>
        </p:nvCxnSpPr>
        <p:spPr>
          <a:xfrm>
            <a:off x="9677400" y="5738813"/>
            <a:ext cx="114300" cy="0"/>
          </a:xfrm>
          <a:prstGeom prst="straightConnector1">
            <a:avLst/>
          </a:prstGeom>
          <a:ln w="19050">
            <a:solidFill>
              <a:srgbClr val="6E8799"/>
            </a:solidFill>
            <a:prstDash val="solid"/>
            <a:tailEnd type="triangle" w="sm" len="sm"/>
          </a:ln>
        </p:spPr>
      </p:cxnSp>
      <p:cxnSp>
        <p:nvCxnSpPr>
          <p:cNvPr id="122" name="直接箭头连接符 121"/>
          <p:cNvCxnSpPr>
            <a:stCxn id="58" idx="3"/>
            <a:endCxn id="59" idx="1"/>
          </p:cNvCxnSpPr>
          <p:nvPr/>
        </p:nvCxnSpPr>
        <p:spPr>
          <a:xfrm>
            <a:off x="10363200" y="5738813"/>
            <a:ext cx="133350" cy="0"/>
          </a:xfrm>
          <a:prstGeom prst="straightConnector1">
            <a:avLst/>
          </a:prstGeom>
          <a:ln w="19050">
            <a:solidFill>
              <a:srgbClr val="6E8799"/>
            </a:solidFill>
            <a:prstDash val="solid"/>
            <a:tailEnd type="triangle" w="sm" len="sm"/>
          </a:ln>
        </p:spPr>
      </p:cxnSp>
      <p:sp>
        <p:nvSpPr>
          <p:cNvPr id="62" name="backend-note">
            <a:extLst>
              <a:ext uri="{FF2B5EF4-FFF2-40B4-BE49-F238E27FC236}">
                <a16:creationId xmlns:a16="http://schemas.microsoft.com/office/drawing/2014/main" id="{8A1B1362-68DE-45CC-983E-74E2A4F64391}"/>
              </a:ext>
            </a:extLst>
          </p:cNvPr>
          <p:cNvSpPr>
            <a:spLocks noGrp="1"/>
          </p:cNvSpPr>
          <p:nvPr/>
        </p:nvSpPr>
        <p:spPr>
          <a:xfrm>
            <a:off x="8896350" y="587692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ctr">
              <a:def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ONNX 与 Python HTTP 双后端统一管理</a:t>
            </a:r>
          </a:p>
        </p:txBody>
      </p:sp>
    </p:spTree>
    <p:extLst>
      <p:ext uri="{BB962C8B-B14F-4D97-AF65-F5344CB8AC3E}">
        <p14:creationId xmlns:p14="http://schemas.microsoft.com/office/powerpoint/2010/main" val="1452584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DocSecurity>0</DocSecurity>
  <PresentationFormat>宽屏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Aptos Mono</vt:lpstr>
      <vt:lpstr>Arial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思龙 周</cp:lastModifiedBy>
  <cp:revision>1</cp:revision>
  <dcterms:created xsi:type="dcterms:W3CDTF">2026-09-22T14:52:54Z</dcterms:created>
  <dcterms:modified xsi:type="dcterms:W3CDTF">2026-09-23T03:24:03Z</dcterms:modified>
</cp:coreProperties>
</file>