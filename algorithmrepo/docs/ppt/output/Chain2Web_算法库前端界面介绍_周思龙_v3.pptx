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1ec970586b4b99" /><Relationship Type="http://schemas.openxmlformats.org/officeDocument/2006/relationships/extended-properties" Target="/docProps/app.xml" Id="R4766eff5bc7c4eb2" /><Relationship Type="http://schemas.openxmlformats.org/officeDocument/2006/relationships/officeDocument" Target="/ppt/presentation.xml" Id="R0ce165c29f2e45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ff3392c74341b3"/>
  </p:sldMasterIdLst>
  <p:notesMasterIdLst>
    <p:notesMasterId xmlns:r="http://schemas.openxmlformats.org/officeDocument/2006/relationships" r:id="R70bca16ead83466d"/>
  </p:notesMasterIdLst>
  <p:sldIdLst>
    <p:sldId xmlns:r="http://schemas.openxmlformats.org/officeDocument/2006/relationships" id="256" r:id="R44e904e991344d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9a36952a53420a" /><Relationship Type="http://schemas.openxmlformats.org/officeDocument/2006/relationships/slideMaster" Target="/ppt/slideMasters/slideMaster1.xml" Id="R31ff3392c74341b3" /><Relationship Type="http://schemas.openxmlformats.org/officeDocument/2006/relationships/notesMaster" Target="/ppt/notesMasters/notesMaster1.xml" Id="R70bca16ead83466d" /><Relationship Type="http://schemas.openxmlformats.org/officeDocument/2006/relationships/presProps" Target="/ppt/presProps.xml" Id="R8b22103ade464184" /><Relationship Type="http://schemas.openxmlformats.org/officeDocument/2006/relationships/viewProps" Target="/ppt/viewProps.xml" Id="Rb2317ea2495c474f" /><Relationship Type="http://schemas.openxmlformats.org/officeDocument/2006/relationships/tableStyles" Target="/ppt/tableStyles.xml" Id="Rfe60971273e447ed" /><Relationship Type="http://schemas.openxmlformats.org/officeDocument/2006/relationships/slide" Target="/ppt/slides/slide1.xml" Id="R44e904e991344d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572f91ac14344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829540a4014be7" /><Relationship Type="http://schemas.openxmlformats.org/officeDocument/2006/relationships/notesMaster" Target="/ppt/notesMasters/notesMaster1.xml" Id="R2e5bd622a95440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讲解建议：从左侧导航进入不同管理视图，通过筛选快速定位算法，查看注册状态、部署情况和能力标签，并进入详情页执行生命周期管理或在线调用。</a:t>
            </a:r>
            <a:endParaRPr/>
          </a:p>
          <a:p xmlns:a="http://schemas.openxmlformats.org/drawingml/2006/main">
            <a:r>
              <a:t>截图来源：Chain2Web 项目本地实际运行的 AlgoLib 算法目录页，2026-09-24 截取。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e0aafd904a4339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c2724712a74fcf" /><Relationship Type="http://schemas.openxmlformats.org/officeDocument/2006/relationships/slideLayout" Target="/ppt/slideLayouts/slideLayout1.xml" Id="Rb2ffa7a603f840f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ffa7a603f840f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c90de4476c4fa4" /><Relationship Type="http://schemas.openxmlformats.org/officeDocument/2006/relationships/image" Target="/ppt/media/image.png" Id="R4cc805ecc4f24075" /><Relationship Type="http://schemas.openxmlformats.org/officeDocument/2006/relationships/notesSlide" Target="/ppt/notesSlides/notesSlide1.xml" Id="Rd1e3b6673d054f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7FF75E7-8692-460E-A692-45987FB6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74320"/>
            <a:ext cx="20116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 spc="220">
                <a:solidFill>
                  <a:srgbClr val="1176D4"/>
                </a:solidFill>
                <a:latin typeface="Microsoft YaHei"/>
                <a:ea typeface="Microsoft YaHei"/>
                <a:cs typeface="Microsoft YaHei"/>
              </a:rPr>
              <a:t>CORE / ALGORITHM LIBRARY</a:t>
            </a:r>
            <a:endParaRPr sz="8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CBEB1BD-0075-4EDB-9CA5-43EFB8C2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4864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4263A"/>
                </a:solidFill>
                <a:latin typeface="Microsoft YaHei"/>
                <a:ea typeface="Microsoft YaHei"/>
                <a:cs typeface="Microsoft YaHei"/>
              </a:rPr>
              <a:t>算法库前端：统一查看、管理与调用算法资产</a:t>
            </a:r>
            <a:endParaRPr sz="25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BA19D2C-3702-4AB3-A471-EFF5590F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68580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B8E6"/>
          </a:solidFill>
          <a:ln xmlns:a="http://schemas.openxmlformats.org/drawingml/2006/main"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92E8281-DFDA-4EE5-9138-4D338A32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393192"/>
            <a:ext cx="51206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00">
                <a:solidFill>
                  <a:srgbClr val="8FA0B2"/>
                </a:solidFill>
                <a:latin typeface="Aptos Mono"/>
                <a:ea typeface="Aptos Mono"/>
                <a:cs typeface="Aptos Mono"/>
              </a:rPr>
              <a:t>05</a:t>
            </a:r>
            <a:endParaRPr sz="11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60032BC-2576-4F87-92B0-6D5A46A2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28816"/>
            <a:ext cx="110002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DDE6EE"/>
            </a:solidFill>
            <a:prstDash val="solid"/>
            <a:tailEnd type="none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FFF7585-41B1-409A-B928-48D5976A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65392"/>
            <a:ext cx="38404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北京邮电大学｜Chain2Web 项目组</a:t>
            </a:r>
            <a:endParaRPr sz="7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304A1FD-91CC-477E-A829-4783429B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565392"/>
            <a:ext cx="28346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8FA0B2"/>
                </a:solidFill>
                <a:latin typeface="Microsoft YaHei"/>
                <a:ea typeface="Microsoft YaHei"/>
                <a:cs typeface="Microsoft YaHei"/>
              </a:rPr>
              <a:t>所有图形均应保持可编辑</a:t>
            </a:r>
            <a:endParaRPr sz="7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6771F457-3D6D-40CF-8927-C8C32A0B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3544"/>
            <a:ext cx="1719072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10160">
            <a:solidFill>
              <a:srgbClr val="064A9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6F24EB8-29C2-4031-B6EC-EAF4AF1D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928116"/>
            <a:ext cx="1719072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4A9B"/>
                </a:solidFill>
                <a:latin typeface="Microsoft YaHei"/>
                <a:ea typeface="Microsoft YaHei"/>
                <a:cs typeface="Microsoft YaHei"/>
              </a:rPr>
              <a:t>主界面＋功能导览</a:t>
            </a:r>
            <a:endParaRPr sz="950"/>
          </a:p>
        </p:txBody>
      </p:sp>
      <p:sp>
        <p:nvSpPr>
          <p:cNvPr id="11" name="screenshot-frame">
            <a:extLst xmlns:a="http://schemas.openxmlformats.org/drawingml/2006/main">
              <a:ext uri="{FF2B5EF4-FFF2-40B4-BE49-F238E27FC236}">
                <a16:creationId xmlns:a16="http://schemas.microsoft.com/office/drawing/2014/main" id="{2475B7A3-23D2-4944-899C-A70A181C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504950"/>
            <a:ext cx="9182100" cy="4591050"/>
          </a:xfrm>
          <a:prstGeom xmlns:a="http://schemas.openxmlformats.org/drawingml/2006/main" prst="roundRect">
            <a:avLst>
              <a:gd name="adj" fmla="val 20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D8E6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805ecc4f24075"/>
          <a:stretch xmlns:a="http://schemas.openxmlformats.org/drawingml/2006/main"/>
        </p:blipFill>
        <p:spPr>
          <a:xfrm xmlns:a="http://schemas.openxmlformats.org/drawingml/2006/main">
            <a:off x="1572126" y="1571625"/>
            <a:ext cx="9047747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  <p:sp>
        <p:nvSpPr>
          <p:cNvPr id="13" name="callout-1">
            <a:extLst xmlns:a="http://schemas.openxmlformats.org/drawingml/2006/main">
              <a:ext uri="{FF2B5EF4-FFF2-40B4-BE49-F238E27FC236}">
                <a16:creationId xmlns:a16="http://schemas.microsoft.com/office/drawing/2014/main" id="{CA340584-89D7-4DA4-873F-402AE72E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952625"/>
            <a:ext cx="12192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14" name="callout-badge-1">
            <a:extLst xmlns:a="http://schemas.openxmlformats.org/drawingml/2006/main">
              <a:ext uri="{FF2B5EF4-FFF2-40B4-BE49-F238E27FC236}">
                <a16:creationId xmlns:a16="http://schemas.microsoft.com/office/drawing/2014/main" id="{414774B3-F9FE-4F4F-83E7-DC3DF4A3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047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5" name="callout-title-1">
            <a:extLst xmlns:a="http://schemas.openxmlformats.org/drawingml/2006/main">
              <a:ext uri="{FF2B5EF4-FFF2-40B4-BE49-F238E27FC236}">
                <a16:creationId xmlns:a16="http://schemas.microsoft.com/office/drawing/2014/main" id="{3CD580AD-2B98-407B-81B2-CE3ED599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288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模块导航</a:t>
            </a:r>
          </a:p>
        </p:txBody>
      </p:sp>
      <p:sp>
        <p:nvSpPr>
          <p:cNvPr id="16" name="callout-body-1">
            <a:extLst xmlns:a="http://schemas.openxmlformats.org/drawingml/2006/main">
              <a:ext uri="{FF2B5EF4-FFF2-40B4-BE49-F238E27FC236}">
                <a16:creationId xmlns:a16="http://schemas.microsoft.com/office/drawing/2014/main" id="{AA96118E-9711-4A86-A810-E66130FB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31457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417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六类管理视图</a:t>
            </a:r>
          </a:p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随时切换</a:t>
            </a:r>
          </a:p>
        </p:txBody>
      </p:sp>
      <p:sp>
        <p:nvSpPr>
          <p:cNvPr id="17" name="callout-2">
            <a:extLst xmlns:a="http://schemas.openxmlformats.org/drawingml/2006/main">
              <a:ext uri="{FF2B5EF4-FFF2-40B4-BE49-F238E27FC236}">
                <a16:creationId xmlns:a16="http://schemas.microsoft.com/office/drawing/2014/main" id="{85529E3B-9EA8-44AA-B2ED-CAFBC50B7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200150"/>
            <a:ext cx="18097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18" name="callout-badge-2">
            <a:extLst xmlns:a="http://schemas.openxmlformats.org/drawingml/2006/main">
              <a:ext uri="{FF2B5EF4-FFF2-40B4-BE49-F238E27FC236}">
                <a16:creationId xmlns:a16="http://schemas.microsoft.com/office/drawing/2014/main" id="{18943105-32A3-44AB-AAA6-894E04D9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29540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callout-title-2">
            <a:extLst xmlns:a="http://schemas.openxmlformats.org/drawingml/2006/main">
              <a:ext uri="{FF2B5EF4-FFF2-40B4-BE49-F238E27FC236}">
                <a16:creationId xmlns:a16="http://schemas.microsoft.com/office/drawing/2014/main" id="{31914B36-DC32-4B05-AC6B-079A55A0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2763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筛选与注册</a:t>
            </a:r>
          </a:p>
        </p:txBody>
      </p:sp>
      <p:sp>
        <p:nvSpPr>
          <p:cNvPr id="20" name="callout-body-2">
            <a:extLst xmlns:a="http://schemas.openxmlformats.org/drawingml/2006/main">
              <a:ext uri="{FF2B5EF4-FFF2-40B4-BE49-F238E27FC236}">
                <a16:creationId xmlns:a16="http://schemas.microsoft.com/office/drawing/2014/main" id="{6FBD97E7-F02F-4904-9A3E-CBF57B0F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62100"/>
            <a:ext cx="1581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417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名称、状态、后端</a:t>
            </a:r>
          </a:p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快速定位算法</a:t>
            </a:r>
          </a:p>
        </p:txBody>
      </p:sp>
      <p:sp>
        <p:nvSpPr>
          <p:cNvPr id="21" name="callout-3">
            <a:extLst xmlns:a="http://schemas.openxmlformats.org/drawingml/2006/main">
              <a:ext uri="{FF2B5EF4-FFF2-40B4-BE49-F238E27FC236}">
                <a16:creationId xmlns:a16="http://schemas.microsoft.com/office/drawing/2014/main" id="{164224FD-DBB9-47F9-8E80-E34408DD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952625"/>
            <a:ext cx="12192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22" name="callout-badge-3">
            <a:extLst xmlns:a="http://schemas.openxmlformats.org/drawingml/2006/main">
              <a:ext uri="{FF2B5EF4-FFF2-40B4-BE49-F238E27FC236}">
                <a16:creationId xmlns:a16="http://schemas.microsoft.com/office/drawing/2014/main" id="{66A4FD37-E88E-4E3B-A837-8F5A925E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04787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3" name="callout-title-3">
            <a:extLst xmlns:a="http://schemas.openxmlformats.org/drawingml/2006/main">
              <a:ext uri="{FF2B5EF4-FFF2-40B4-BE49-F238E27FC236}">
                <a16:creationId xmlns:a16="http://schemas.microsoft.com/office/drawing/2014/main" id="{7BAECD1F-4E99-4B34-A990-618085E3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202882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运行状态</a:t>
            </a:r>
          </a:p>
        </p:txBody>
      </p:sp>
      <p:sp>
        <p:nvSpPr>
          <p:cNvPr id="24" name="callout-body-3">
            <a:extLst xmlns:a="http://schemas.openxmlformats.org/drawingml/2006/main">
              <a:ext uri="{FF2B5EF4-FFF2-40B4-BE49-F238E27FC236}">
                <a16:creationId xmlns:a16="http://schemas.microsoft.com/office/drawing/2014/main" id="{E9CDC17C-B096-4A16-8DEE-24515489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1457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417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健康与缓存</a:t>
            </a:r>
          </a:p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AMOS 跳转</a:t>
            </a:r>
          </a:p>
        </p:txBody>
      </p:sp>
      <p:sp>
        <p:nvSpPr>
          <p:cNvPr id="25" name="callout-4">
            <a:extLst xmlns:a="http://schemas.openxmlformats.org/drawingml/2006/main">
              <a:ext uri="{FF2B5EF4-FFF2-40B4-BE49-F238E27FC236}">
                <a16:creationId xmlns:a16="http://schemas.microsoft.com/office/drawing/2014/main" id="{86245274-B314-417F-8756-7271EC83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333875"/>
            <a:ext cx="121920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C7ED6"/>
            </a:solidFill>
            <a:prstDash val="solid"/>
          </a:ln>
        </p:spPr>
      </p:sp>
      <p:sp>
        <p:nvSpPr>
          <p:cNvPr id="26" name="callout-badge-4">
            <a:extLst xmlns:a="http://schemas.openxmlformats.org/drawingml/2006/main">
              <a:ext uri="{FF2B5EF4-FFF2-40B4-BE49-F238E27FC236}">
                <a16:creationId xmlns:a16="http://schemas.microsoft.com/office/drawing/2014/main" id="{6F2B1FC6-0D42-4BD4-B230-2A082A12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429125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7ED6"/>
          </a:solidFill>
          <a:ln xmlns:a="http://schemas.openxmlformats.org/drawingml/2006/main" w="0">
            <a:solidFill>
              <a:srgbClr val="1C7ED6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00C30AD1-414E-4556-8B16-03C67AE7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410075"/>
            <a:ext cx="102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0263A"/>
                </a:solidFill>
                <a:latin typeface="Microsoft YaHei"/>
                <a:ea typeface="Microsoft YaHei"/>
                <a:cs typeface="Microsoft YaHei"/>
              </a:rPr>
              <a:t>资产信息</a:t>
            </a:r>
          </a:p>
        </p:txBody>
      </p:sp>
      <p:sp>
        <p:nvSpPr>
          <p:cNvPr id="28" name="callout-body-4">
            <a:extLst xmlns:a="http://schemas.openxmlformats.org/drawingml/2006/main">
              <a:ext uri="{FF2B5EF4-FFF2-40B4-BE49-F238E27FC236}">
                <a16:creationId xmlns:a16="http://schemas.microsoft.com/office/drawing/2014/main" id="{D768FBD8-22DE-4193-861A-C75E8CC0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695825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5417"/>
          </a:bodyPr>
          <a:lstStyle xmlns:a="http://schemas.openxmlformats.org/drawingml/2006/main"/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版本、状态、部署</a:t>
            </a:r>
          </a:p>
          <a:p xmlns:a="http://schemas.openxmlformats.org/drawingml/2006/main">
            <a:pPr algn="ctr">
              <a:def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F96"/>
                </a:solidFill>
                <a:latin typeface="Microsoft YaHei"/>
                <a:ea typeface="Microsoft YaHei"/>
                <a:cs typeface="Microsoft YaHei"/>
              </a:rPr>
              <a:t>能力与详情</a:t>
            </a:r>
          </a:p>
        </p:txBody>
      </p:sp>
      <p:sp>
        <p:nvSpPr>
          <p:cNvPr id="29" name="marker-1">
            <a:extLst xmlns:a="http://schemas.openxmlformats.org/drawingml/2006/main">
              <a:ext uri="{FF2B5EF4-FFF2-40B4-BE49-F238E27FC236}">
                <a16:creationId xmlns:a16="http://schemas.microsoft.com/office/drawing/2014/main" id="{C209CBBF-D707-4F80-B735-4E76F2C6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479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0" name="marker-2">
            <a:extLst xmlns:a="http://schemas.openxmlformats.org/drawingml/2006/main">
              <a:ext uri="{FF2B5EF4-FFF2-40B4-BE49-F238E27FC236}">
                <a16:creationId xmlns:a16="http://schemas.microsoft.com/office/drawing/2014/main" id="{BB6E0F25-918B-47A8-81B7-8C381A03E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52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1" name="marker-3">
            <a:extLst xmlns:a="http://schemas.openxmlformats.org/drawingml/2006/main">
              <a:ext uri="{FF2B5EF4-FFF2-40B4-BE49-F238E27FC236}">
                <a16:creationId xmlns:a16="http://schemas.microsoft.com/office/drawing/2014/main" id="{3E17C4DD-EA60-41D0-8495-D1B40717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6764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2" name="marker-4">
            <a:extLst xmlns:a="http://schemas.openxmlformats.org/drawingml/2006/main">
              <a:ext uri="{FF2B5EF4-FFF2-40B4-BE49-F238E27FC236}">
                <a16:creationId xmlns:a16="http://schemas.microsoft.com/office/drawing/2014/main" id="{B85FF6C5-9268-4667-8683-A9297A1E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909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B8D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cxnSp>
        <p:nvCxnSpPr>
          <p:cNvPr id="68" name=""/>
          <p:cNvCxnSpPr>
            <a:stCxn xmlns:a="http://schemas.openxmlformats.org/drawingml/2006/main" id="13" idx="3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1447800" y="2314575"/>
            <a:ext cx="276225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tailEnd type="triangle" w="med" len="med"/>
          </a:ln>
        </p:spPr>
      </p:cxnSp>
      <p:cxnSp>
        <p:nvCxnSpPr>
          <p:cNvPr id="69" name=""/>
          <p:cNvCxnSpPr>
            <a:stCxn xmlns:a="http://schemas.openxmlformats.org/drawingml/2006/main" id="1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4562475" y="1924050"/>
            <a:ext cx="57150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tailEnd type="triangle" w="med" len="med"/>
          </a:ln>
        </p:spPr>
      </p:cxnSp>
      <p:cxnSp>
        <p:nvCxnSpPr>
          <p:cNvPr id="70" name=""/>
          <p:cNvCxnSpPr>
            <a:stCxn xmlns:a="http://schemas.openxmlformats.org/drawingml/2006/main" id="21" idx="1"/>
            <a:endCxn xmlns:a="http://schemas.openxmlformats.org/drawingml/2006/main" id="31" idx="6"/>
          </p:cNvCxnSpPr>
          <p:nvPr/>
        </p:nvCxnSpPr>
        <p:spPr>
          <a:xfrm xmlns:a="http://schemas.openxmlformats.org/drawingml/2006/main" flipH="1" flipV="1">
            <a:off x="10391775" y="1800225"/>
            <a:ext cx="352425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tailEnd type="triangle" w="med" len="med"/>
          </a:ln>
        </p:spPr>
      </p:cxnSp>
      <p:cxnSp>
        <p:nvCxnSpPr>
          <p:cNvPr id="71" name=""/>
          <p:cNvCxnSpPr>
            <a:stCxn xmlns:a="http://schemas.openxmlformats.org/drawingml/2006/main" id="25" idx="1"/>
            <a:endCxn xmlns:a="http://schemas.openxmlformats.org/drawingml/2006/main" id="32" idx="6"/>
          </p:cNvCxnSpPr>
          <p:nvPr/>
        </p:nvCxnSpPr>
        <p:spPr>
          <a:xfrm xmlns:a="http://schemas.openxmlformats.org/drawingml/2006/main" flipH="1" flipV="1">
            <a:off x="9963150" y="4114800"/>
            <a:ext cx="781050" cy="5810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0B8D9"/>
            </a:solidFill>
            <a:prstDash val="soli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90228761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2026-09-24T10:18:17.5570000Z</dcterms:created>
  <dcterms:modified xsi:type="dcterms:W3CDTF">2026-09-24T10:18:17.5570000Z</dcterms:modified>
</coreProperties>
</file>