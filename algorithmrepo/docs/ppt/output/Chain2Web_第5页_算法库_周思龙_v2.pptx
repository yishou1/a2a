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c6589f2ca4441" /><Relationship Type="http://schemas.openxmlformats.org/officeDocument/2006/relationships/extended-properties" Target="/docProps/app.xml" Id="R23f00644f5364984" /><Relationship Type="http://schemas.openxmlformats.org/officeDocument/2006/relationships/officeDocument" Target="/ppt/presentation.xml" Id="Rcc3bdc09e54e49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cbf4fc5fbb48b4"/>
  </p:sldMasterIdLst>
  <p:notesMasterIdLst>
    <p:notesMasterId xmlns:r="http://schemas.openxmlformats.org/officeDocument/2006/relationships" r:id="Rc1e29b97084d4d2f"/>
  </p:notesMasterIdLst>
  <p:sldIdLst>
    <p:sldId xmlns:r="http://schemas.openxmlformats.org/officeDocument/2006/relationships" id="256" r:id="R4ef104171bc042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06195607624d0f" /><Relationship Type="http://schemas.openxmlformats.org/officeDocument/2006/relationships/slideMaster" Target="/ppt/slideMasters/slideMaster1.xml" Id="R20cbf4fc5fbb48b4" /><Relationship Type="http://schemas.openxmlformats.org/officeDocument/2006/relationships/notesMaster" Target="/ppt/notesMasters/notesMaster1.xml" Id="Rc1e29b97084d4d2f" /><Relationship Type="http://schemas.openxmlformats.org/officeDocument/2006/relationships/presProps" Target="/ppt/presProps.xml" Id="R83294d25bb254dd6" /><Relationship Type="http://schemas.openxmlformats.org/officeDocument/2006/relationships/viewProps" Target="/ppt/viewProps.xml" Id="R1926ba01ab8d497c" /><Relationship Type="http://schemas.openxmlformats.org/officeDocument/2006/relationships/tableStyles" Target="/ppt/tableStyles.xml" Id="R59fbed8e28364f3f" /><Relationship Type="http://schemas.openxmlformats.org/officeDocument/2006/relationships/slide" Target="/ppt/slides/slide1.xml" Id="R4ef104171bc042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8700c1b8b649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47660857044137" /><Relationship Type="http://schemas.openxmlformats.org/officeDocument/2006/relationships/notesMaster" Target="/ppt/notesMasters/notesMaster1.xml" Id="R4e6e917beedf48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本页内容依据：</a:t>
            </a:r>
            <a:endParaRPr/>
          </a:p>
          <a:p xmlns:a="http://schemas.openxmlformats.org/drawingml/2006/main">
            <a:r>
              <a:t>1. 《智能算法模型库设计报告v1.1》总体逻辑架构、算法生命周期、Runner与模型加载设计。</a:t>
            </a:r>
            <a:endParaRPr/>
          </a:p>
          <a:p xmlns:a="http://schemas.openxmlformats.org/drawingml/2006/main">
            <a:r>
              <a:t>2. 《软件设计说明v1.1》4.1.2 智能算法模型库、5.1.2 C++算法注册与生命周期管理。</a:t>
            </a:r>
            <a:endParaRPr/>
          </a:p>
          <a:p xmlns:a="http://schemas.openxmlformats.org/drawingml/2006/main">
            <a:r>
              <a:t>3. 《应用功能智能化总体方案v1.4》4.2.1 建设目标、6.1.2 智能算法模型库。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讲解要点：算法卡将模型、Schema、资源要求和验证样例组织成受控资产。注册表维护版本与生命周期。统一运行层根据 backend_type 选择 ONNX Runner 或 Python HTTP Runner，完成加载、推理、结果校验和审计。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e3a6ef12d445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cf298315034ddc" /><Relationship Type="http://schemas.openxmlformats.org/officeDocument/2006/relationships/slideLayout" Target="/ppt/slideLayouts/slideLayout1.xml" Id="Rc6d549aefc2b40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549aefc2b409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f286780a64b89" /><Relationship Type="http://schemas.openxmlformats.org/officeDocument/2006/relationships/notesSlide" Target="/ppt/notesSlides/notesSlide1.xml" Id="Ref400d74d0cd47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A04E03-4E92-4701-BB07-022235C2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0D64BC-495E-4A39-98A4-7335B596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可装卸算法库：资产管理、统一运行与节点执行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6BD02A-670E-43BB-B1DC-CF07C071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A36B87-7511-4CFB-A759-CFD01E4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1B741A1-0F8F-445F-978E-03EB7168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9A06B3-D68C-408F-9F3B-5EDE397E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4829B0-BC8F-4C78-96F2-107ECF1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314D29E-D8FD-4556-B8AC-3127316D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CFAFB9C-1ABA-45C3-BE59-4D0B3B33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总体架构＋运行主线</a:t>
            </a:r>
            <a:endParaRPr sz="950"/>
          </a:p>
        </p:txBody>
      </p:sp>
      <p:sp>
        <p:nvSpPr>
          <p:cNvPr id="11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EDA19AF-4D4F-4B53-9C04-C36F6B4A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79057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12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54ED7141-7C66-466B-BA97-8D3D335F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9FC"/>
          </a:solidFill>
          <a:ln xmlns:a="http://schemas.openxmlformats.org/drawingml/2006/main" w="9525">
            <a:solidFill>
              <a:srgbClr val="ECF9FC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总体逻辑架构</a:t>
            </a:r>
          </a:p>
        </p:txBody>
      </p:sp>
      <p:sp>
        <p:nvSpPr>
          <p:cNvPr id="13" name="caller-layer">
            <a:extLst xmlns:a="http://schemas.openxmlformats.org/drawingml/2006/main">
              <a:ext uri="{FF2B5EF4-FFF2-40B4-BE49-F238E27FC236}">
                <a16:creationId xmlns:a16="http://schemas.microsoft.com/office/drawing/2014/main" id="{28A7E5D2-50CC-4252-84D8-34C53199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239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FD7F5"/>
            </a:solidFill>
            <a:prstDash val="solid"/>
          </a:ln>
        </p:spPr>
      </p:sp>
      <p:sp>
        <p:nvSpPr>
          <p:cNvPr id="14" name="caller-title">
            <a:extLst xmlns:a="http://schemas.openxmlformats.org/drawingml/2006/main">
              <a:ext uri="{FF2B5EF4-FFF2-40B4-BE49-F238E27FC236}">
                <a16:creationId xmlns:a16="http://schemas.microsoft.com/office/drawing/2014/main" id="{998B2F08-A511-45C2-AA17-3BF471F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调用方</a:t>
            </a:r>
          </a:p>
        </p:txBody>
      </p:sp>
      <p:sp>
        <p:nvSpPr>
          <p:cNvPr id="15" name="caller-body">
            <a:extLst xmlns:a="http://schemas.openxmlformats.org/drawingml/2006/main">
              <a:ext uri="{FF2B5EF4-FFF2-40B4-BE49-F238E27FC236}">
                <a16:creationId xmlns:a16="http://schemas.microsoft.com/office/drawing/2014/main" id="{BB49DACC-F2DD-41AC-8043-64689F58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71675"/>
            <a:ext cx="590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Agent  /  AMOS  /  算法管理控制台</a:t>
            </a:r>
          </a:p>
        </p:txBody>
      </p:sp>
      <p:sp>
        <p:nvSpPr>
          <p:cNvPr id="16" name="service-layer">
            <a:extLst xmlns:a="http://schemas.openxmlformats.org/drawingml/2006/main">
              <a:ext uri="{FF2B5EF4-FFF2-40B4-BE49-F238E27FC236}">
                <a16:creationId xmlns:a16="http://schemas.microsoft.com/office/drawing/2014/main" id="{199F5532-2672-4711-8EDE-6C051D5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0325"/>
            <a:ext cx="7239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CF9FC"/>
          </a:solidFill>
          <a:ln xmlns:a="http://schemas.openxmlformats.org/drawingml/2006/main" w="9525">
            <a:solidFill>
              <a:srgbClr val="B9E7F3"/>
            </a:solidFill>
            <a:prstDash val="solid"/>
          </a:ln>
        </p:spPr>
      </p:sp>
      <p:sp>
        <p:nvSpPr>
          <p:cNvPr id="17" name="service-title">
            <a:extLst xmlns:a="http://schemas.openxmlformats.org/drawingml/2006/main">
              <a:ext uri="{FF2B5EF4-FFF2-40B4-BE49-F238E27FC236}">
                <a16:creationId xmlns:a16="http://schemas.microsoft.com/office/drawing/2014/main" id="{5B56E8A8-35C9-4421-B80F-F6C1FD70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7652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服务接入层</a:t>
            </a:r>
          </a:p>
        </p:txBody>
      </p:sp>
      <p:sp>
        <p:nvSpPr>
          <p:cNvPr id="18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6644986D-E067-4B22-B4E3-21848F64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76525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管理  部署  执行  文件  健康  监控与追踪</a:t>
            </a:r>
          </a:p>
        </p:txBody>
      </p:sp>
      <p:cxnSp>
        <p:nvCxnSpPr>
          <p:cNvPr id="80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524375" y="23431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sp>
        <p:nvSpPr>
          <p:cNvPr id="20" name="management-layer">
            <a:extLst xmlns:a="http://schemas.openxmlformats.org/drawingml/2006/main">
              <a:ext uri="{FF2B5EF4-FFF2-40B4-BE49-F238E27FC236}">
                <a16:creationId xmlns:a16="http://schemas.microsoft.com/office/drawing/2014/main" id="{9BCDF62F-9E31-4EF8-9BC2-FE30A71D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19526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2F0FF"/>
          </a:solidFill>
          <a:ln xmlns:a="http://schemas.openxmlformats.org/drawingml/2006/main" w="9525">
            <a:solidFill>
              <a:srgbClr val="D7D0FF"/>
            </a:solidFill>
            <a:prstDash val="solid"/>
          </a:ln>
        </p:spPr>
      </p:sp>
      <p:sp>
        <p:nvSpPr>
          <p:cNvPr id="21" name="management-title">
            <a:extLst xmlns:a="http://schemas.openxmlformats.org/drawingml/2006/main">
              <a:ext uri="{FF2B5EF4-FFF2-40B4-BE49-F238E27FC236}">
                <a16:creationId xmlns:a16="http://schemas.microsoft.com/office/drawing/2014/main" id="{F5E1A64A-B0F2-4B5E-91EB-F4FD2047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166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166F5"/>
                </a:solidFill>
                <a:latin typeface="Microsoft YaHei"/>
                <a:ea typeface="Microsoft YaHei"/>
                <a:cs typeface="Microsoft YaHei"/>
              </a:rPr>
              <a:t>算法管理层</a:t>
            </a:r>
          </a:p>
        </p:txBody>
      </p:sp>
      <p:sp>
        <p:nvSpPr>
          <p:cNvPr id="22" name="management-body">
            <a:extLst xmlns:a="http://schemas.openxmlformats.org/drawingml/2006/main">
              <a:ext uri="{FF2B5EF4-FFF2-40B4-BE49-F238E27FC236}">
                <a16:creationId xmlns:a16="http://schemas.microsoft.com/office/drawing/2014/main" id="{6B71CF24-CB8A-417E-A0F0-09CEE4B2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注册表与版本状态</a:t>
            </a:r>
          </a:p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功能映射与部署记录</a:t>
            </a:r>
          </a:p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生命周期管理</a:t>
            </a:r>
          </a:p>
        </p:txBody>
      </p:sp>
      <p:sp>
        <p:nvSpPr>
          <p:cNvPr id="23" name="runtime-layer">
            <a:extLst xmlns:a="http://schemas.openxmlformats.org/drawingml/2006/main">
              <a:ext uri="{FF2B5EF4-FFF2-40B4-BE49-F238E27FC236}">
                <a16:creationId xmlns:a16="http://schemas.microsoft.com/office/drawing/2014/main" id="{42DCB5F5-8F28-4356-AC16-1155396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28575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E0"/>
            </a:solidFill>
            <a:prstDash val="solid"/>
          </a:ln>
        </p:spPr>
      </p:sp>
      <p:sp>
        <p:nvSpPr>
          <p:cNvPr id="24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1025C9AB-8F8F-4A28-B8D6-2131CB96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385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统一运行层</a:t>
            </a:r>
          </a:p>
        </p:txBody>
      </p:sp>
      <p:sp>
        <p:nvSpPr>
          <p:cNvPr id="25" name="runtime-body">
            <a:extLst xmlns:a="http://schemas.openxmlformats.org/drawingml/2006/main">
              <a:ext uri="{FF2B5EF4-FFF2-40B4-BE49-F238E27FC236}">
                <a16:creationId xmlns:a16="http://schemas.microsoft.com/office/drawing/2014/main" id="{8B5357B0-A4E1-4416-B3CE-2A824FAD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请求校验  状态检查</a:t>
            </a:r>
          </a:p>
          <a:p xmlns:a="http://schemas.openxmlformats.org/drawingml/2006/main"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Runner选择  加载与缓存</a:t>
            </a:r>
          </a:p>
          <a:p xmlns:a="http://schemas.openxmlformats.org/drawingml/2006/main"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推理执行  输出校验与归一化</a:t>
            </a:r>
          </a:p>
          <a:p xmlns:a="http://schemas.openxmlformats.org/drawingml/2006/main"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审计记录</a:t>
            </a:r>
          </a:p>
        </p:txBody>
      </p:sp>
      <p:sp>
        <p:nvSpPr>
          <p:cNvPr id="26" name="asset-layer">
            <a:extLst xmlns:a="http://schemas.openxmlformats.org/drawingml/2006/main">
              <a:ext uri="{FF2B5EF4-FFF2-40B4-BE49-F238E27FC236}">
                <a16:creationId xmlns:a16="http://schemas.microsoft.com/office/drawing/2014/main" id="{18C26652-9C85-410F-8BE5-F7F2258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9526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CFAF7"/>
          </a:solidFill>
          <a:ln xmlns:a="http://schemas.openxmlformats.org/drawingml/2006/main" w="9525">
            <a:solidFill>
              <a:srgbClr val="BFEADE"/>
            </a:solidFill>
            <a:prstDash val="solid"/>
          </a:ln>
        </p:spPr>
      </p:sp>
      <p:sp>
        <p:nvSpPr>
          <p:cNvPr id="27" name="asset-title">
            <a:extLst xmlns:a="http://schemas.openxmlformats.org/drawingml/2006/main">
              <a:ext uri="{FF2B5EF4-FFF2-40B4-BE49-F238E27FC236}">
                <a16:creationId xmlns:a16="http://schemas.microsoft.com/office/drawing/2014/main" id="{E6FD38C8-40D9-417A-8710-D8711AB4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147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B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BEAA"/>
                </a:solidFill>
                <a:latin typeface="Microsoft YaHei"/>
                <a:ea typeface="Microsoft YaHei"/>
                <a:cs typeface="Microsoft YaHei"/>
              </a:rPr>
              <a:t>算法资产层</a:t>
            </a:r>
          </a:p>
        </p:txBody>
      </p:sp>
      <p:sp>
        <p:nvSpPr>
          <p:cNvPr id="28" name="asset-body">
            <a:extLst xmlns:a="http://schemas.openxmlformats.org/drawingml/2006/main">
              <a:ext uri="{FF2B5EF4-FFF2-40B4-BE49-F238E27FC236}">
                <a16:creationId xmlns:a16="http://schemas.microsoft.com/office/drawing/2014/main" id="{3AB8CC25-DC1B-47D5-915B-7A1D54AA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1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799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Algorithm Card 与 Schema</a:t>
            </a:r>
          </a:p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模型文件、配置与依赖</a:t>
            </a:r>
          </a:p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Golden Case验证样例</a:t>
            </a:r>
          </a:p>
        </p:txBody>
      </p:sp>
      <p:cxnSp>
        <p:nvCxnSpPr>
          <p:cNvPr id="90" name=""/>
          <p:cNvCxnSpPr>
            <a:stCxn xmlns:a="http://schemas.openxmlformats.org/drawingml/2006/main" id="16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524375" y="30956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857500" y="3981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6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5953125" y="3981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sp>
        <p:nvSpPr>
          <p:cNvPr id="32" name="loader-cache">
            <a:extLst xmlns:a="http://schemas.openxmlformats.org/drawingml/2006/main">
              <a:ext uri="{FF2B5EF4-FFF2-40B4-BE49-F238E27FC236}">
                <a16:creationId xmlns:a16="http://schemas.microsoft.com/office/drawing/2014/main" id="{022BD08A-3E81-405E-97C7-376D55DD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10125"/>
            <a:ext cx="4191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FD7F5"/>
            </a:solidFill>
            <a:prstDash val="solid"/>
          </a:ln>
        </p:spPr>
      </p:sp>
      <p:sp>
        <p:nvSpPr>
          <p:cNvPr id="33" name="loader-title">
            <a:extLst xmlns:a="http://schemas.openxmlformats.org/drawingml/2006/main">
              <a:ext uri="{FF2B5EF4-FFF2-40B4-BE49-F238E27FC236}">
                <a16:creationId xmlns:a16="http://schemas.microsoft.com/office/drawing/2014/main" id="{11BE8B13-8595-42A6-87C5-97DD7F66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57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7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Model Loader  +  Runner Cache</a:t>
            </a:r>
          </a:p>
        </p:txBody>
      </p:sp>
      <p:sp>
        <p:nvSpPr>
          <p:cNvPr id="34" name="loader-body">
            <a:extLst xmlns:a="http://schemas.openxmlformats.org/drawingml/2006/main">
              <a:ext uri="{FF2B5EF4-FFF2-40B4-BE49-F238E27FC236}">
                <a16:creationId xmlns:a16="http://schemas.microsoft.com/office/drawing/2014/main" id="{4CCB00D1-4F6F-43A6-8B11-053C9D54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577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77381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显式预加载  按需加载  缓存复用  卸载释放</a:t>
            </a:r>
          </a:p>
        </p:txBody>
      </p:sp>
      <p:cxnSp>
        <p:nvCxnSpPr>
          <p:cNvPr id="96" name=""/>
          <p:cNvCxnSpPr>
            <a:stCxn xmlns:a="http://schemas.openxmlformats.org/drawingml/2006/main" id="2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524375" y="46291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sp>
        <p:nvSpPr>
          <p:cNvPr id="36" name="node-layer">
            <a:extLst xmlns:a="http://schemas.openxmlformats.org/drawingml/2006/main">
              <a:ext uri="{FF2B5EF4-FFF2-40B4-BE49-F238E27FC236}">
                <a16:creationId xmlns:a16="http://schemas.microsoft.com/office/drawing/2014/main" id="{E739391A-45DF-4230-9622-E0E92FA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14975"/>
            <a:ext cx="72390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9D5DF"/>
            </a:solidFill>
            <a:prstDash val="solid"/>
          </a:ln>
        </p:spPr>
      </p:sp>
      <p:sp>
        <p:nvSpPr>
          <p:cNvPr id="37" name="node-title">
            <a:extLst xmlns:a="http://schemas.openxmlformats.org/drawingml/2006/main">
              <a:ext uri="{FF2B5EF4-FFF2-40B4-BE49-F238E27FC236}">
                <a16:creationId xmlns:a16="http://schemas.microsoft.com/office/drawing/2014/main" id="{99972503-8ECD-460A-8643-90D83CF9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911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节点执行层</a:t>
            </a:r>
          </a:p>
        </p:txBody>
      </p:sp>
      <p:sp>
        <p:nvSpPr>
          <p:cNvPr id="38" name="node-body">
            <a:extLst xmlns:a="http://schemas.openxmlformats.org/drawingml/2006/main">
              <a:ext uri="{FF2B5EF4-FFF2-40B4-BE49-F238E27FC236}">
                <a16:creationId xmlns:a16="http://schemas.microsoft.com/office/drawing/2014/main" id="{C0868631-D3DF-4257-A1C5-7511BD0D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91175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ONNX Runner    Python HTTP Runner    CPU / GPU / 受控服务节点</a:t>
            </a:r>
          </a:p>
        </p:txBody>
      </p:sp>
      <p:cxnSp>
        <p:nvCxnSpPr>
          <p:cNvPr id="100" name=""/>
          <p:cNvCxnSpPr>
            <a:stCxn xmlns:a="http://schemas.openxmlformats.org/drawingml/2006/main" id="32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524375" y="52673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sp>
        <p:nvSpPr>
          <p:cNvPr id="40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D4E23EFE-57FF-43C7-B152-0ADE7C02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91225"/>
            <a:ext cx="438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9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AAA"/>
                </a:solidFill>
                <a:latin typeface="Microsoft YaHei"/>
                <a:ea typeface="Microsoft YaHei"/>
                <a:cs typeface="Microsoft YaHei"/>
              </a:rPr>
              <a:t>中心维护资产与状态，目标节点负责模型加载和实际推理</a:t>
            </a:r>
          </a:p>
        </p:txBody>
      </p:sp>
      <p:sp>
        <p:nvSpPr>
          <p:cNvPr id="41" name="process-panel">
            <a:extLst xmlns:a="http://schemas.openxmlformats.org/drawingml/2006/main">
              <a:ext uri="{FF2B5EF4-FFF2-40B4-BE49-F238E27FC236}">
                <a16:creationId xmlns:a16="http://schemas.microsoft.com/office/drawing/2014/main" id="{0E9D02E6-26D0-4D4B-AB0A-5B3EAEAC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81125"/>
            <a:ext cx="2867025" cy="4762500"/>
          </a:xfrm>
          <a:prstGeom xmlns:a="http://schemas.openxmlformats.org/drawingml/2006/main" prst="roundRect">
            <a:avLst>
              <a:gd name="adj" fmla="val 5980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9525">
            <a:solidFill>
              <a:srgbClr val="071B2A"/>
            </a:solidFill>
            <a:prstDash val="solid"/>
          </a:ln>
        </p:spPr>
      </p:sp>
      <p:sp>
        <p:nvSpPr>
          <p:cNvPr id="42" name="process-label">
            <a:extLst xmlns:a="http://schemas.openxmlformats.org/drawingml/2006/main">
              <a:ext uri="{FF2B5EF4-FFF2-40B4-BE49-F238E27FC236}">
                <a16:creationId xmlns:a16="http://schemas.microsoft.com/office/drawing/2014/main" id="{110F5DCF-3E88-49CD-ABAD-416190E1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71625"/>
            <a:ext cx="1000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5E5"/>
          </a:solidFill>
          <a:ln xmlns:a="http://schemas.openxmlformats.org/drawingml/2006/main" w="9525">
            <a:solidFill>
              <a:srgbClr val="19B5E5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B2A"/>
                </a:solidFill>
                <a:latin typeface="Microsoft YaHei"/>
                <a:ea typeface="Microsoft YaHei"/>
                <a:cs typeface="Microsoft YaHei"/>
              </a:rPr>
              <a:t>运行主线</a:t>
            </a:r>
          </a:p>
        </p:txBody>
      </p:sp>
      <p:sp>
        <p:nvSpPr>
          <p:cNvPr id="43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28DBBCCB-929E-431D-A8E8-5AB41664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算法进入可调用状态</a:t>
            </a:r>
          </a:p>
        </p:txBody>
      </p:sp>
      <p:sp>
        <p:nvSpPr>
          <p:cNvPr id="44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50D87A41-13B5-42C2-A9DE-9AA35B0B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3429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66F5"/>
          </a:solidFill>
          <a:ln xmlns:a="http://schemas.openxmlformats.org/drawingml/2006/main" w="9525">
            <a:solidFill>
              <a:srgbClr val="7166F5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9332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67F68DCD-1A41-4F7B-9D4F-CC4A2085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98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算法卡</a:t>
            </a:r>
          </a:p>
        </p:txBody>
      </p:sp>
      <p:sp>
        <p:nvSpPr>
          <p:cNvPr id="46" name="step-1-body">
            <a:extLst xmlns:a="http://schemas.openxmlformats.org/drawingml/2006/main">
              <a:ext uri="{FF2B5EF4-FFF2-40B4-BE49-F238E27FC236}">
                <a16:creationId xmlns:a16="http://schemas.microsoft.com/office/drawing/2014/main" id="{D4BD4C03-3110-4C78-84D0-AD0705A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2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定义算法标识、输入输出 Schema、后端类型、资源约束和验证样例</a:t>
            </a:r>
          </a:p>
        </p:txBody>
      </p:sp>
      <p:sp>
        <p:nvSpPr>
          <p:cNvPr id="47" name="divider-1">
            <a:extLst xmlns:a="http://schemas.openxmlformats.org/drawingml/2006/main">
              <a:ext uri="{FF2B5EF4-FFF2-40B4-BE49-F238E27FC236}">
                <a16:creationId xmlns:a16="http://schemas.microsoft.com/office/drawing/2014/main" id="{A0409970-AC26-445A-83E2-D7DF7C72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99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2"/>
            </a:solidFill>
            <a:prstDash val="solid"/>
          </a:ln>
        </p:spPr>
      </p:sp>
      <p:sp>
        <p:nvSpPr>
          <p:cNvPr id="4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EB457FE1-FD4C-4DE6-8F94-3302D719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43275"/>
            <a:ext cx="3429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E0"/>
          </a:solidFill>
          <a:ln xmlns:a="http://schemas.openxmlformats.org/drawingml/2006/main" w="9525">
            <a:solidFill>
              <a:srgbClr val="1F7AE0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9332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9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CD7AFD8F-4BB5-43F7-9451-568D3DE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956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注册</a:t>
            </a:r>
          </a:p>
        </p:txBody>
      </p:sp>
      <p:sp>
        <p:nvSpPr>
          <p:cNvPr id="50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A844C68-592A-4FFB-A12C-24991E39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99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后端与 Golden Case 校验通过后进入 validated，激活后进入 active</a:t>
            </a:r>
          </a:p>
        </p:txBody>
      </p:sp>
      <p:sp>
        <p:nvSpPr>
          <p:cNvPr id="51" name="divider-2">
            <a:extLst xmlns:a="http://schemas.openxmlformats.org/drawingml/2006/main">
              <a:ext uri="{FF2B5EF4-FFF2-40B4-BE49-F238E27FC236}">
                <a16:creationId xmlns:a16="http://schemas.microsoft.com/office/drawing/2014/main" id="{9482F9F5-BD32-484B-A29A-6478DD5D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2"/>
            </a:solidFill>
            <a:prstDash val="solid"/>
          </a:ln>
        </p:spPr>
      </p:sp>
      <p:sp>
        <p:nvSpPr>
          <p:cNvPr id="52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DFDA2BD-217E-4A1C-8163-07FD75F2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29100"/>
            <a:ext cx="3429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EAA"/>
          </a:solidFill>
          <a:ln xmlns:a="http://schemas.openxmlformats.org/drawingml/2006/main" w="9525">
            <a:solidFill>
              <a:srgbClr val="20BEAA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9332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3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60F27718-8E01-4FBA-B978-76E19D7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54" name="step-3-body">
            <a:extLst xmlns:a="http://schemas.openxmlformats.org/drawingml/2006/main">
              <a:ext uri="{FF2B5EF4-FFF2-40B4-BE49-F238E27FC236}">
                <a16:creationId xmlns:a16="http://schemas.microsoft.com/office/drawing/2014/main" id="{E2B3E2E1-1B32-4F5B-BCF2-14656C3D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显式预加载或首次调用按需加载，Runner 缓存复用并回写 ready</a:t>
            </a:r>
          </a:p>
        </p:txBody>
      </p:sp>
      <p:sp>
        <p:nvSpPr>
          <p:cNvPr id="55" name="key-label">
            <a:extLst xmlns:a="http://schemas.openxmlformats.org/drawingml/2006/main">
              <a:ext uri="{FF2B5EF4-FFF2-40B4-BE49-F238E27FC236}">
                <a16:creationId xmlns:a16="http://schemas.microsoft.com/office/drawing/2014/main" id="{DE5AB22A-5B23-4B4C-BE04-EA1A07AD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38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rPr>
              <a:t>统一资产键</a:t>
            </a:r>
          </a:p>
        </p:txBody>
      </p:sp>
      <p:sp>
        <p:nvSpPr>
          <p:cNvPr id="56" name="key-value">
            <a:extLst xmlns:a="http://schemas.openxmlformats.org/drawingml/2006/main">
              <a:ext uri="{FF2B5EF4-FFF2-40B4-BE49-F238E27FC236}">
                <a16:creationId xmlns:a16="http://schemas.microsoft.com/office/drawing/2014/main" id="{4467A474-4797-4CF5-BE11-DC624152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38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20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algorithm_id + version + backend_type</a:t>
            </a:r>
          </a:p>
        </p:txBody>
      </p:sp>
      <p:sp>
        <p:nvSpPr>
          <p:cNvPr id="57" name="status-validated">
            <a:extLst xmlns:a="http://schemas.openxmlformats.org/drawingml/2006/main">
              <a:ext uri="{FF2B5EF4-FFF2-40B4-BE49-F238E27FC236}">
                <a16:creationId xmlns:a16="http://schemas.microsoft.com/office/drawing/2014/main" id="{F35751B8-6411-4AA4-84D6-CC60C238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19750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66F5"/>
          </a:solidFill>
          <a:ln xmlns:a="http://schemas.openxmlformats.org/drawingml/2006/main" w="9525">
            <a:solidFill>
              <a:srgbClr val="7166F5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8761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sp>
        <p:nvSpPr>
          <p:cNvPr id="58" name="status-active">
            <a:extLst xmlns:a="http://schemas.openxmlformats.org/drawingml/2006/main">
              <a:ext uri="{FF2B5EF4-FFF2-40B4-BE49-F238E27FC236}">
                <a16:creationId xmlns:a16="http://schemas.microsoft.com/office/drawing/2014/main" id="{D0B91439-A8E8-4A17-B995-450C3030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19750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E0"/>
          </a:solidFill>
          <a:ln xmlns:a="http://schemas.openxmlformats.org/drawingml/2006/main" w="9525">
            <a:solidFill>
              <a:srgbClr val="1F7AE0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9332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active</a:t>
            </a:r>
          </a:p>
        </p:txBody>
      </p:sp>
      <p:sp>
        <p:nvSpPr>
          <p:cNvPr id="59" name="status-ready">
            <a:extLst xmlns:a="http://schemas.openxmlformats.org/drawingml/2006/main">
              <a:ext uri="{FF2B5EF4-FFF2-40B4-BE49-F238E27FC236}">
                <a16:creationId xmlns:a16="http://schemas.microsoft.com/office/drawing/2014/main" id="{51690B5D-88A8-42C2-9170-2EA34E8C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0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EAA"/>
          </a:solidFill>
          <a:ln xmlns:a="http://schemas.openxmlformats.org/drawingml/2006/main" w="9525">
            <a:solidFill>
              <a:srgbClr val="20BEAA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9332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cxnSp>
        <p:nvCxnSpPr>
          <p:cNvPr id="121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9582150" y="57388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799"/>
            </a:solidFill>
            <a:prstDash val="solid"/>
            <a:head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0267950" y="57388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799"/>
            </a:solidFill>
            <a:prstDash val="solid"/>
            <a:headEnd type="triangle" w="sm" len="sm"/>
          </a:ln>
        </p:spPr>
      </p:cxnSp>
      <p:sp>
        <p:nvSpPr>
          <p:cNvPr id="62" name="backend-note">
            <a:extLst xmlns:a="http://schemas.openxmlformats.org/drawingml/2006/main">
              <a:ext uri="{FF2B5EF4-FFF2-40B4-BE49-F238E27FC236}">
                <a16:creationId xmlns:a16="http://schemas.microsoft.com/office/drawing/2014/main" id="{291FD74A-75D5-4561-9C0F-690E8D3C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769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rPr>
              <a:t>ONNX 与 Python HTTP 双后端统一管理</a:t>
            </a:r>
          </a:p>
        </p:txBody>
      </p:sp>
    </p:spTree>
    <p:extLst>
      <p:ext uri="{BB962C8B-B14F-4D97-AF65-F5344CB8AC3E}">
        <p14:creationId xmlns:p14="http://schemas.microsoft.com/office/powerpoint/2010/main" val="11211472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2026-09-22T14:47:10.4230000Z</dcterms:created>
  <dcterms:modified xsi:type="dcterms:W3CDTF">2026-09-22T14:47:10.4230000Z</dcterms:modified>
</coreProperties>
</file>