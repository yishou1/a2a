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af9a0cb8fb4cac" /><Relationship Type="http://schemas.openxmlformats.org/officeDocument/2006/relationships/extended-properties" Target="/docProps/app.xml" Id="R62f770f20b6647bd" /><Relationship Type="http://schemas.openxmlformats.org/officeDocument/2006/relationships/officeDocument" Target="/ppt/presentation.xml" Id="R904b60d52d9240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3838286d1548e8"/>
  </p:sldMasterIdLst>
  <p:notesMasterIdLst>
    <p:notesMasterId xmlns:r="http://schemas.openxmlformats.org/officeDocument/2006/relationships" r:id="R61751aec70b44084"/>
  </p:notesMasterIdLst>
  <p:sldIdLst>
    <p:sldId xmlns:r="http://schemas.openxmlformats.org/officeDocument/2006/relationships" id="256" r:id="R0e1b4ca6c81348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3c099d87844c8f" /><Relationship Type="http://schemas.openxmlformats.org/officeDocument/2006/relationships/slideMaster" Target="/ppt/slideMasters/slideMaster1.xml" Id="R4b3838286d1548e8" /><Relationship Type="http://schemas.openxmlformats.org/officeDocument/2006/relationships/notesMaster" Target="/ppt/notesMasters/notesMaster1.xml" Id="R61751aec70b44084" /><Relationship Type="http://schemas.openxmlformats.org/officeDocument/2006/relationships/presProps" Target="/ppt/presProps.xml" Id="R3547511874cf4794" /><Relationship Type="http://schemas.openxmlformats.org/officeDocument/2006/relationships/viewProps" Target="/ppt/viewProps.xml" Id="R76a8aec973664ec5" /><Relationship Type="http://schemas.openxmlformats.org/officeDocument/2006/relationships/tableStyles" Target="/ppt/tableStyles.xml" Id="Ra7ac0bf927714bb1" /><Relationship Type="http://schemas.openxmlformats.org/officeDocument/2006/relationships/slide" Target="/ppt/slides/slide1.xml" Id="R0e1b4ca6c81348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e716d16ce04e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0cff94f385456d" /><Relationship Type="http://schemas.openxmlformats.org/officeDocument/2006/relationships/notesMaster" Target="/ppt/notesMasters/notesMaster1.xml" Id="R3fd56ee1ab3244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讲解建议：从左侧导航进入不同管理视图，通过筛选快速定位算法，查看注册状态、部署情况和能力标签，并进入详情页执行生命周期管理或在线调用。</a:t>
            </a:r>
            <a:endParaRPr/>
          </a:p>
          <a:p xmlns:a="http://schemas.openxmlformats.org/drawingml/2006/main">
            <a:r>
              <a:t>截图来源：Chain2Web 项目本地实际运行的 AlgoLib 算法目录页，2026-09-24 截取。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ad761712684955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f3f372e8214ed9" /><Relationship Type="http://schemas.openxmlformats.org/officeDocument/2006/relationships/slideLayout" Target="/ppt/slideLayouts/slideLayout1.xml" Id="R4b75fdd3161a403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75fdd3161a403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faf0d879b4a06" /><Relationship Type="http://schemas.openxmlformats.org/officeDocument/2006/relationships/image" Target="/ppt/media/image.png" Id="Ra42bf19a21d64071" /><Relationship Type="http://schemas.openxmlformats.org/officeDocument/2006/relationships/notesSlide" Target="/ppt/notesSlides/notesSlide1.xml" Id="R44282250645b49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8324C28-4465-4F26-B5C1-1B8749DA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74320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 spc="220">
                <a:solidFill>
                  <a:srgbClr val="1176D4"/>
                </a:solidFill>
                <a:latin typeface="Microsoft YaHei"/>
                <a:ea typeface="Microsoft YaHei"/>
                <a:cs typeface="Microsoft YaHei"/>
              </a:rPr>
              <a:t>CORE / ALGORITHM LIBRARY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1F33E-96FA-4F63-A715-4123A05A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864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算法库前端：统一查看、管理与调用算法资产</a:t>
            </a:r>
            <a:endParaRPr sz="2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09BDACD-C41F-40AD-8A1E-F0A7BA1E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6858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8E6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1EBBB01-4E13-4BC8-B18E-2E8EBCA0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393192"/>
            <a:ext cx="51206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FA0B2"/>
                </a:solidFill>
                <a:latin typeface="Aptos Mono"/>
                <a:ea typeface="Aptos Mono"/>
                <a:cs typeface="Aptos Mono"/>
              </a:rPr>
              <a:t>05</a:t>
            </a:r>
            <a:endParaRPr sz="11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B9F982B-30C3-4DB2-9549-DED7BEA9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28816"/>
            <a:ext cx="110002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DE6EE"/>
            </a:solidFill>
            <a:prstDash val="solid"/>
            <a:tailEnd type="none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5F5CE6F-A752-4F12-812A-4B4CA96A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65392"/>
            <a:ext cx="3840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北京邮电大学｜Chain2Web 项目组</a:t>
            </a:r>
            <a:endParaRPr sz="7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2BBBF2C-55EC-4CDA-8E76-0602BB7A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6565392"/>
            <a:ext cx="28346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所有图形均应保持可编辑</a:t>
            </a:r>
            <a:endParaRPr sz="7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6728E18-666D-4F04-B208-118C8685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923544"/>
            <a:ext cx="1719072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160">
            <a:solidFill>
              <a:srgbClr val="064A9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A967C35-E291-4547-93FB-072BD92C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928116"/>
            <a:ext cx="1719072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rPr>
              <a:t>主界面＋功能导览</a:t>
            </a:r>
            <a:endParaRPr sz="950"/>
          </a:p>
        </p:txBody>
      </p:sp>
      <p:sp>
        <p:nvSpPr>
          <p:cNvPr id="11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B6F03C29-7F06-48D9-AE16-0E4003FF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504950"/>
            <a:ext cx="9182100" cy="4591050"/>
          </a:xfrm>
          <a:prstGeom xmlns:a="http://schemas.openxmlformats.org/drawingml/2006/main" prst="roundRect">
            <a:avLst>
              <a:gd name="adj" fmla="val 20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D8E6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2bf19a21d64071"/>
          <a:stretch xmlns:a="http://schemas.openxmlformats.org/drawingml/2006/main"/>
        </p:blipFill>
        <p:spPr>
          <a:xfrm xmlns:a="http://schemas.openxmlformats.org/drawingml/2006/main">
            <a:off x="1572126" y="1571625"/>
            <a:ext cx="9047747" cy="4476750"/>
          </a:xfrm>
          <a:prstGeom xmlns:a="http://schemas.openxmlformats.org/drawingml/2006/main" prst="roundRect">
            <a:avLst>
              <a:gd name="adj" fmla="val 1702"/>
            </a:avLst>
          </a:prstGeom>
        </p:spPr>
      </p:pic>
      <p:sp>
        <p:nvSpPr>
          <p:cNvPr id="13" name="callout-1">
            <a:extLst xmlns:a="http://schemas.openxmlformats.org/drawingml/2006/main">
              <a:ext uri="{FF2B5EF4-FFF2-40B4-BE49-F238E27FC236}">
                <a16:creationId xmlns:a16="http://schemas.microsoft.com/office/drawing/2014/main" id="{8973EDD9-E1EF-4CF6-91BF-0041A5E2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52625"/>
            <a:ext cx="12192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C7ED6"/>
            </a:solidFill>
            <a:prstDash val="solid"/>
          </a:ln>
        </p:spPr>
      </p:sp>
      <p:sp>
        <p:nvSpPr>
          <p:cNvPr id="14" name="callout-badge-1">
            <a:extLst xmlns:a="http://schemas.openxmlformats.org/drawingml/2006/main">
              <a:ext uri="{FF2B5EF4-FFF2-40B4-BE49-F238E27FC236}">
                <a16:creationId xmlns:a16="http://schemas.microsoft.com/office/drawing/2014/main" id="{4304F5AC-7904-49D9-B6AA-7D532DF4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0574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solidFill>
              <a:srgbClr val="1C7ED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callout-title-1">
            <a:extLst xmlns:a="http://schemas.openxmlformats.org/drawingml/2006/main">
              <a:ext uri="{FF2B5EF4-FFF2-40B4-BE49-F238E27FC236}">
                <a16:creationId xmlns:a16="http://schemas.microsoft.com/office/drawing/2014/main" id="{4226AB79-E780-49CE-8816-5EFB3DE9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28825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rPr>
              <a:t>模块导航</a:t>
            </a:r>
          </a:p>
        </p:txBody>
      </p:sp>
      <p:sp>
        <p:nvSpPr>
          <p:cNvPr id="16" name="callout-body-1">
            <a:extLst xmlns:a="http://schemas.openxmlformats.org/drawingml/2006/main">
              <a:ext uri="{FF2B5EF4-FFF2-40B4-BE49-F238E27FC236}">
                <a16:creationId xmlns:a16="http://schemas.microsoft.com/office/drawing/2014/main" id="{2DEE48CC-2670-4DF6-AA3A-28D8C26D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314575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5417"/>
          </a:bodyPr>
          <a:lstStyle xmlns:a="http://schemas.openxmlformats.org/drawingml/2006/main"/>
          <a:p xmlns:a="http://schemas.openxmlformats.org/drawingml/2006/main">
            <a:pPr algn="ctr">
              <a:def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六类管理视图</a:t>
            </a:r>
          </a:p>
          <a:p xmlns:a="http://schemas.openxmlformats.org/drawingml/2006/main">
            <a:pPr algn="ctr">
              <a:def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随时切换</a:t>
            </a:r>
          </a:p>
        </p:txBody>
      </p:sp>
      <p:sp>
        <p:nvSpPr>
          <p:cNvPr id="17" name="callout-2">
            <a:extLst xmlns:a="http://schemas.openxmlformats.org/drawingml/2006/main">
              <a:ext uri="{FF2B5EF4-FFF2-40B4-BE49-F238E27FC236}">
                <a16:creationId xmlns:a16="http://schemas.microsoft.com/office/drawing/2014/main" id="{B598CED1-AAF1-4399-B527-D7108E25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00150"/>
            <a:ext cx="18097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C7ED6"/>
            </a:solidFill>
            <a:prstDash val="solid"/>
          </a:ln>
        </p:spPr>
      </p:sp>
      <p:sp>
        <p:nvSpPr>
          <p:cNvPr id="18" name="callout-badge-2">
            <a:extLst xmlns:a="http://schemas.openxmlformats.org/drawingml/2006/main">
              <a:ext uri="{FF2B5EF4-FFF2-40B4-BE49-F238E27FC236}">
                <a16:creationId xmlns:a16="http://schemas.microsoft.com/office/drawing/2014/main" id="{D61E987A-6D78-4594-99B7-CB9379D1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30492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solidFill>
              <a:srgbClr val="1C7ED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callout-title-2">
            <a:extLst xmlns:a="http://schemas.openxmlformats.org/drawingml/2006/main">
              <a:ext uri="{FF2B5EF4-FFF2-40B4-BE49-F238E27FC236}">
                <a16:creationId xmlns:a16="http://schemas.microsoft.com/office/drawing/2014/main" id="{E6CBA51E-DACB-4144-B516-28DAB97C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2763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rPr>
              <a:t>筛选与注册</a:t>
            </a:r>
          </a:p>
        </p:txBody>
      </p:sp>
      <p:sp>
        <p:nvSpPr>
          <p:cNvPr id="20" name="callout-body-2">
            <a:extLst xmlns:a="http://schemas.openxmlformats.org/drawingml/2006/main">
              <a:ext uri="{FF2B5EF4-FFF2-40B4-BE49-F238E27FC236}">
                <a16:creationId xmlns:a16="http://schemas.microsoft.com/office/drawing/2014/main" id="{941BC0A7-3631-4382-9EBE-2BAF59D7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621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5417"/>
          </a:bodyPr>
          <a:lstStyle xmlns:a="http://schemas.openxmlformats.org/drawingml/2006/main"/>
          <a:p xmlns:a="http://schemas.openxmlformats.org/drawingml/2006/main">
            <a:pPr algn="ctr">
              <a:def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名称、状态、后端</a:t>
            </a:r>
          </a:p>
          <a:p xmlns:a="http://schemas.openxmlformats.org/drawingml/2006/main">
            <a:pPr algn="ctr">
              <a:def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快速定位算法</a:t>
            </a:r>
          </a:p>
        </p:txBody>
      </p:sp>
      <p:sp>
        <p:nvSpPr>
          <p:cNvPr id="21" name="callout-3">
            <a:extLst xmlns:a="http://schemas.openxmlformats.org/drawingml/2006/main">
              <a:ext uri="{FF2B5EF4-FFF2-40B4-BE49-F238E27FC236}">
                <a16:creationId xmlns:a16="http://schemas.microsoft.com/office/drawing/2014/main" id="{CCA1E51A-6D7C-4CCC-AB77-0A560395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52625"/>
            <a:ext cx="12192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C7ED6"/>
            </a:solidFill>
            <a:prstDash val="solid"/>
          </a:ln>
        </p:spPr>
      </p:sp>
      <p:sp>
        <p:nvSpPr>
          <p:cNvPr id="22" name="callout-badge-3">
            <a:extLst xmlns:a="http://schemas.openxmlformats.org/drawingml/2006/main">
              <a:ext uri="{FF2B5EF4-FFF2-40B4-BE49-F238E27FC236}">
                <a16:creationId xmlns:a16="http://schemas.microsoft.com/office/drawing/2014/main" id="{0E43E8D6-35B1-4036-B13A-8EC00213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0574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solidFill>
              <a:srgbClr val="1C7ED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callout-title-3">
            <a:extLst xmlns:a="http://schemas.openxmlformats.org/drawingml/2006/main">
              <a:ext uri="{FF2B5EF4-FFF2-40B4-BE49-F238E27FC236}">
                <a16:creationId xmlns:a16="http://schemas.microsoft.com/office/drawing/2014/main" id="{68CD9CF6-F8A3-4A21-B048-5946FA4C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28825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rPr>
              <a:t>运行状态</a:t>
            </a:r>
          </a:p>
        </p:txBody>
      </p:sp>
      <p:sp>
        <p:nvSpPr>
          <p:cNvPr id="24" name="callout-body-3">
            <a:extLst xmlns:a="http://schemas.openxmlformats.org/drawingml/2006/main">
              <a:ext uri="{FF2B5EF4-FFF2-40B4-BE49-F238E27FC236}">
                <a16:creationId xmlns:a16="http://schemas.microsoft.com/office/drawing/2014/main" id="{D317028D-AF25-4256-A00D-C4113834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314575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5417"/>
          </a:bodyPr>
          <a:lstStyle xmlns:a="http://schemas.openxmlformats.org/drawingml/2006/main"/>
          <a:p xmlns:a="http://schemas.openxmlformats.org/drawingml/2006/main">
            <a:pPr algn="ctr">
              <a:def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健康与缓存</a:t>
            </a:r>
          </a:p>
          <a:p xmlns:a="http://schemas.openxmlformats.org/drawingml/2006/main">
            <a:pPr algn="ctr">
              <a:def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AMOS 跳转</a:t>
            </a:r>
          </a:p>
        </p:txBody>
      </p:sp>
      <p:sp>
        <p:nvSpPr>
          <p:cNvPr id="25" name="callout-4">
            <a:extLst xmlns:a="http://schemas.openxmlformats.org/drawingml/2006/main">
              <a:ext uri="{FF2B5EF4-FFF2-40B4-BE49-F238E27FC236}">
                <a16:creationId xmlns:a16="http://schemas.microsoft.com/office/drawing/2014/main" id="{164E6809-B63D-4034-BBC7-5617BCC9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333875"/>
            <a:ext cx="12192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C7ED6"/>
            </a:solidFill>
            <a:prstDash val="solid"/>
          </a:ln>
        </p:spPr>
      </p:sp>
      <p:sp>
        <p:nvSpPr>
          <p:cNvPr id="26" name="callout-badge-4">
            <a:extLst xmlns:a="http://schemas.openxmlformats.org/drawingml/2006/main">
              <a:ext uri="{FF2B5EF4-FFF2-40B4-BE49-F238E27FC236}">
                <a16:creationId xmlns:a16="http://schemas.microsoft.com/office/drawing/2014/main" id="{1EF13857-129A-4C7F-8389-B042666E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4386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solidFill>
              <a:srgbClr val="1C7ED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callout-title-4">
            <a:extLst xmlns:a="http://schemas.openxmlformats.org/drawingml/2006/main">
              <a:ext uri="{FF2B5EF4-FFF2-40B4-BE49-F238E27FC236}">
                <a16:creationId xmlns:a16="http://schemas.microsoft.com/office/drawing/2014/main" id="{014FF26A-C746-40AD-94B5-52F3ABE7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410075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rPr>
              <a:t>资产信息</a:t>
            </a:r>
          </a:p>
        </p:txBody>
      </p:sp>
      <p:sp>
        <p:nvSpPr>
          <p:cNvPr id="28" name="callout-body-4">
            <a:extLst xmlns:a="http://schemas.openxmlformats.org/drawingml/2006/main">
              <a:ext uri="{FF2B5EF4-FFF2-40B4-BE49-F238E27FC236}">
                <a16:creationId xmlns:a16="http://schemas.microsoft.com/office/drawing/2014/main" id="{1F30FE15-5E1D-4B50-8615-C3DBE9D0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95825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5417"/>
          </a:bodyPr>
          <a:lstStyle xmlns:a="http://schemas.openxmlformats.org/drawingml/2006/main"/>
          <a:p xmlns:a="http://schemas.openxmlformats.org/drawingml/2006/main">
            <a:pPr algn="ctr">
              <a:def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版本、状态、部署</a:t>
            </a:r>
          </a:p>
          <a:p xmlns:a="http://schemas.openxmlformats.org/drawingml/2006/main">
            <a:pPr algn="ctr">
              <a:def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能力与详情</a:t>
            </a:r>
          </a:p>
        </p:txBody>
      </p:sp>
      <p:sp>
        <p:nvSpPr>
          <p:cNvPr id="29" name="marker-1">
            <a:extLst xmlns:a="http://schemas.openxmlformats.org/drawingml/2006/main">
              <a:ext uri="{FF2B5EF4-FFF2-40B4-BE49-F238E27FC236}">
                <a16:creationId xmlns:a16="http://schemas.microsoft.com/office/drawing/2014/main" id="{8485BFED-7A81-40DA-9C67-4E64CFB2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8479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0" name="marker-2">
            <a:extLst xmlns:a="http://schemas.openxmlformats.org/drawingml/2006/main">
              <a:ext uri="{FF2B5EF4-FFF2-40B4-BE49-F238E27FC236}">
                <a16:creationId xmlns:a16="http://schemas.microsoft.com/office/drawing/2014/main" id="{0B4F4543-1E95-4EE9-BEE8-D875CBA5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52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1" name="marker-3">
            <a:extLst xmlns:a="http://schemas.openxmlformats.org/drawingml/2006/main">
              <a:ext uri="{FF2B5EF4-FFF2-40B4-BE49-F238E27FC236}">
                <a16:creationId xmlns:a16="http://schemas.microsoft.com/office/drawing/2014/main" id="{E6B6B19C-089F-4279-8740-43B3B5D1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676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2" name="marker-4">
            <a:extLst xmlns:a="http://schemas.openxmlformats.org/drawingml/2006/main">
              <a:ext uri="{FF2B5EF4-FFF2-40B4-BE49-F238E27FC236}">
                <a16:creationId xmlns:a16="http://schemas.microsoft.com/office/drawing/2014/main" id="{0DC43387-0002-4017-AF94-B6F7C62E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909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cxnSp>
        <p:nvCxnSpPr>
          <p:cNvPr id="68" name=""/>
          <p:cNvCxnSpPr>
            <a:stCxn xmlns:a="http://schemas.openxmlformats.org/drawingml/2006/main" id="13" idx="3"/>
            <a:endCxn xmlns:a="http://schemas.openxmlformats.org/drawingml/2006/main" id="29" idx="2"/>
          </p:cNvCxnSpPr>
          <p:nvPr/>
        </p:nvCxnSpPr>
        <p:spPr>
          <a:xfrm xmlns:a="http://schemas.openxmlformats.org/drawingml/2006/main">
            <a:off x="1447800" y="2314575"/>
            <a:ext cx="276225" cy="6572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0B8D9"/>
            </a:solidFill>
            <a:prstDash val="solid"/>
            <a:tailEnd type="triangle" w="med" len="med"/>
          </a:ln>
        </p:spPr>
      </p:cxnSp>
      <p:cxnSp>
        <p:nvCxnSpPr>
          <p:cNvPr id="69" name=""/>
          <p:cNvCxnSpPr>
            <a:stCxn xmlns:a="http://schemas.openxmlformats.org/drawingml/2006/main" id="17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4562475" y="1924050"/>
            <a:ext cx="5715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0B8D9"/>
            </a:solidFill>
            <a:prstDash val="solid"/>
            <a:tailEnd type="triangle" w="med" len="med"/>
          </a:ln>
        </p:spPr>
      </p:cxnSp>
      <p:cxnSp>
        <p:nvCxnSpPr>
          <p:cNvPr id="70" name=""/>
          <p:cNvCxnSpPr>
            <a:stCxn xmlns:a="http://schemas.openxmlformats.org/drawingml/2006/main" id="21" idx="1"/>
            <a:endCxn xmlns:a="http://schemas.openxmlformats.org/drawingml/2006/main" id="31" idx="6"/>
          </p:cNvCxnSpPr>
          <p:nvPr/>
        </p:nvCxnSpPr>
        <p:spPr>
          <a:xfrm xmlns:a="http://schemas.openxmlformats.org/drawingml/2006/main" flipH="1" flipV="1">
            <a:off x="10391775" y="1800225"/>
            <a:ext cx="3524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0B8D9"/>
            </a:solidFill>
            <a:prstDash val="solid"/>
            <a:tailEnd type="triangle" w="med" len="med"/>
          </a:ln>
        </p:spPr>
      </p:cxnSp>
      <p:cxnSp>
        <p:nvCxnSpPr>
          <p:cNvPr id="71" name=""/>
          <p:cNvCxnSpPr>
            <a:stCxn xmlns:a="http://schemas.openxmlformats.org/drawingml/2006/main" id="25" idx="1"/>
            <a:endCxn xmlns:a="http://schemas.openxmlformats.org/drawingml/2006/main" id="32" idx="6"/>
          </p:cNvCxnSpPr>
          <p:nvPr/>
        </p:nvCxnSpPr>
        <p:spPr>
          <a:xfrm xmlns:a="http://schemas.openxmlformats.org/drawingml/2006/main" flipH="1" flipV="1">
            <a:off x="9963150" y="4114800"/>
            <a:ext cx="78105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0B8D9"/>
            </a:solidFill>
            <a:prstDash val="soli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4203521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2026-09-24T10:17:07.0350000Z</dcterms:created>
  <dcterms:modified xsi:type="dcterms:W3CDTF">2026-09-24T10:17:07.0350000Z</dcterms:modified>
</coreProperties>
</file>