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68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8362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7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angyu/a2a/doc/PPT模板_assets/AMOS界面_封面背景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725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071725">
              <a:alpha val="9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12064" y="530352"/>
            <a:ext cx="73152" cy="5440680"/>
          </a:xfrm>
          <a:prstGeom prst="rect">
            <a:avLst/>
          </a:prstGeom>
          <a:solidFill>
            <a:srgbClr val="19B8E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68680" y="640080"/>
            <a:ext cx="2606040" cy="274320"/>
          </a:xfrm>
          <a:prstGeom prst="roundRect">
            <a:avLst>
              <a:gd name="adj" fmla="val 50000"/>
            </a:avLst>
          </a:prstGeom>
          <a:solidFill>
            <a:srgbClr val="19B8E6"/>
          </a:solidFill>
          <a:ln w="10160">
            <a:solidFill>
              <a:srgbClr val="19B8E6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644652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17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CHAIN2WEB / PROJECT PRESENTATION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1408176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Chain2Web：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011680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拓链成网世界模型推演</a:t>
            </a:r>
            <a:endParaRPr lang="en-US" sz="3500" dirty="0"/>
          </a:p>
        </p:txBody>
      </p:sp>
      <p:sp>
        <p:nvSpPr>
          <p:cNvPr id="10" name="Text 7"/>
          <p:cNvSpPr txBox="1"/>
          <p:nvPr/>
        </p:nvSpPr>
        <p:spPr>
          <a:xfrm>
            <a:off x="896112" y="2907792"/>
            <a:ext cx="5257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50" dirty="0">
                <a:solidFill>
                  <a:srgbClr val="C9DD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面向异构节点的动态能力编排与推演验证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896112" y="3547872"/>
            <a:ext cx="4361688" cy="0"/>
          </a:xfrm>
          <a:prstGeom prst="line">
            <a:avLst/>
          </a:prstGeom>
          <a:noFill/>
          <a:ln w="12700">
            <a:solidFill>
              <a:srgbClr val="3E6D8C"/>
            </a:solidFill>
            <a:prstDash val="solid"/>
            <a:tailEnd type="none"/>
          </a:ln>
        </p:spPr>
      </p:sp>
      <p:sp>
        <p:nvSpPr>
          <p:cNvPr id="12" name="Text 9"/>
          <p:cNvSpPr txBox="1"/>
          <p:nvPr/>
        </p:nvSpPr>
        <p:spPr>
          <a:xfrm>
            <a:off x="896112" y="370332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9EC9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分布式智能体 × 可装卸算法库 × 运行时动态匹配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68680" y="4809744"/>
            <a:ext cx="4983480" cy="987552"/>
          </a:xfrm>
          <a:prstGeom prst="roundRect">
            <a:avLst>
              <a:gd name="adj" fmla="val 7407"/>
            </a:avLst>
          </a:prstGeom>
          <a:solidFill>
            <a:srgbClr val="092237">
              <a:alpha val="85000"/>
            </a:srgbClr>
          </a:solidFill>
          <a:ln w="10160">
            <a:solidFill>
              <a:srgbClr val="2F708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97280" y="507492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汇报人：XXX　｜　单位：XXX　｜　2026.XX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321040" y="1508760"/>
            <a:ext cx="1188720" cy="548640"/>
          </a:xfrm>
          <a:prstGeom prst="line">
            <a:avLst/>
          </a:prstGeom>
          <a:noFill/>
          <a:ln w="10160">
            <a:solidFill>
              <a:srgbClr val="55CBEA"/>
            </a:solidFill>
            <a:prstDash val="dash"/>
            <a:tailEnd type="none"/>
          </a:ln>
        </p:spPr>
      </p:sp>
      <p:sp>
        <p:nvSpPr>
          <p:cNvPr id="16" name="Shape 13"/>
          <p:cNvSpPr/>
          <p:nvPr/>
        </p:nvSpPr>
        <p:spPr>
          <a:xfrm>
            <a:off x="9509760" y="2057400"/>
            <a:ext cx="1188720" cy="0"/>
          </a:xfrm>
          <a:prstGeom prst="line">
            <a:avLst/>
          </a:prstGeom>
          <a:noFill/>
          <a:ln w="10160">
            <a:solidFill>
              <a:srgbClr val="55CBEA"/>
            </a:solidFill>
            <a:prstDash val="dash"/>
            <a:tailEnd type="none"/>
          </a:ln>
        </p:spPr>
      </p:sp>
      <p:sp>
        <p:nvSpPr>
          <p:cNvPr id="17" name="Shape 14"/>
          <p:cNvSpPr/>
          <p:nvPr/>
        </p:nvSpPr>
        <p:spPr>
          <a:xfrm>
            <a:off x="8321040" y="1508760"/>
            <a:ext cx="320040" cy="1554480"/>
          </a:xfrm>
          <a:prstGeom prst="line">
            <a:avLst/>
          </a:prstGeom>
          <a:noFill/>
          <a:ln w="10160">
            <a:solidFill>
              <a:srgbClr val="55CBEA"/>
            </a:solidFill>
            <a:prstDash val="dash"/>
            <a:tailEnd type="none"/>
          </a:ln>
        </p:spPr>
      </p:sp>
      <p:sp>
        <p:nvSpPr>
          <p:cNvPr id="18" name="Shape 15"/>
          <p:cNvSpPr/>
          <p:nvPr/>
        </p:nvSpPr>
        <p:spPr>
          <a:xfrm>
            <a:off x="9509760" y="2057400"/>
            <a:ext cx="0" cy="1005840"/>
          </a:xfrm>
          <a:prstGeom prst="line">
            <a:avLst/>
          </a:prstGeom>
          <a:noFill/>
          <a:ln w="10160">
            <a:solidFill>
              <a:srgbClr val="55CBEA"/>
            </a:solidFill>
            <a:prstDash val="dash"/>
            <a:tailEnd type="none"/>
          </a:ln>
        </p:spPr>
      </p:sp>
      <p:sp>
        <p:nvSpPr>
          <p:cNvPr id="19" name="Shape 16"/>
          <p:cNvSpPr/>
          <p:nvPr/>
        </p:nvSpPr>
        <p:spPr>
          <a:xfrm>
            <a:off x="9509760" y="2057400"/>
            <a:ext cx="777240" cy="1371600"/>
          </a:xfrm>
          <a:prstGeom prst="line">
            <a:avLst/>
          </a:prstGeom>
          <a:noFill/>
          <a:ln w="10160">
            <a:solidFill>
              <a:srgbClr val="55CBEA"/>
            </a:solidFill>
            <a:prstDash val="dash"/>
            <a:tailEnd type="none"/>
          </a:ln>
        </p:spPr>
      </p:sp>
      <p:sp>
        <p:nvSpPr>
          <p:cNvPr id="20" name="Shape 17"/>
          <p:cNvSpPr/>
          <p:nvPr/>
        </p:nvSpPr>
        <p:spPr>
          <a:xfrm>
            <a:off x="10698480" y="1325880"/>
            <a:ext cx="0" cy="2103120"/>
          </a:xfrm>
          <a:prstGeom prst="line">
            <a:avLst/>
          </a:prstGeom>
          <a:noFill/>
          <a:ln w="10160">
            <a:solidFill>
              <a:srgbClr val="55CBEA"/>
            </a:solidFill>
            <a:prstDash val="dash"/>
            <a:tailEnd type="none"/>
          </a:ln>
        </p:spPr>
      </p:sp>
      <p:sp>
        <p:nvSpPr>
          <p:cNvPr id="21" name="Shape 18"/>
          <p:cNvSpPr/>
          <p:nvPr/>
        </p:nvSpPr>
        <p:spPr>
          <a:xfrm>
            <a:off x="8641080" y="3063240"/>
            <a:ext cx="1645920" cy="365760"/>
          </a:xfrm>
          <a:prstGeom prst="line">
            <a:avLst/>
          </a:prstGeom>
          <a:noFill/>
          <a:ln w="10160">
            <a:solidFill>
              <a:srgbClr val="55CBEA"/>
            </a:solidFill>
            <a:prstDash val="dash"/>
            <a:tailEnd type="none"/>
          </a:ln>
        </p:spPr>
      </p:sp>
      <p:sp>
        <p:nvSpPr>
          <p:cNvPr id="22" name="Shape 19"/>
          <p:cNvSpPr/>
          <p:nvPr/>
        </p:nvSpPr>
        <p:spPr>
          <a:xfrm>
            <a:off x="8641080" y="3063240"/>
            <a:ext cx="731520" cy="1554480"/>
          </a:xfrm>
          <a:prstGeom prst="line">
            <a:avLst/>
          </a:prstGeom>
          <a:noFill/>
          <a:ln w="10160">
            <a:solidFill>
              <a:srgbClr val="55CBEA"/>
            </a:solidFill>
            <a:prstDash val="dash"/>
            <a:tailEnd type="none"/>
          </a:ln>
        </p:spPr>
      </p:sp>
      <p:sp>
        <p:nvSpPr>
          <p:cNvPr id="23" name="Shape 20"/>
          <p:cNvSpPr/>
          <p:nvPr/>
        </p:nvSpPr>
        <p:spPr>
          <a:xfrm>
            <a:off x="10287000" y="3429000"/>
            <a:ext cx="0" cy="1188720"/>
          </a:xfrm>
          <a:prstGeom prst="line">
            <a:avLst/>
          </a:prstGeom>
          <a:noFill/>
          <a:ln w="10160">
            <a:solidFill>
              <a:srgbClr val="55CBEA"/>
            </a:solidFill>
            <a:prstDash val="dash"/>
            <a:tailEnd type="none"/>
          </a:ln>
        </p:spPr>
      </p:sp>
      <p:sp>
        <p:nvSpPr>
          <p:cNvPr id="24" name="Shape 21"/>
          <p:cNvSpPr/>
          <p:nvPr/>
        </p:nvSpPr>
        <p:spPr>
          <a:xfrm>
            <a:off x="10287000" y="3429000"/>
            <a:ext cx="731520" cy="1325880"/>
          </a:xfrm>
          <a:prstGeom prst="line">
            <a:avLst/>
          </a:prstGeom>
          <a:noFill/>
          <a:ln w="10160">
            <a:solidFill>
              <a:srgbClr val="55CBEA"/>
            </a:solidFill>
            <a:prstDash val="dash"/>
            <a:tailEnd type="none"/>
          </a:ln>
        </p:spPr>
      </p:sp>
      <p:sp>
        <p:nvSpPr>
          <p:cNvPr id="25" name="Shape 22"/>
          <p:cNvSpPr/>
          <p:nvPr/>
        </p:nvSpPr>
        <p:spPr>
          <a:xfrm>
            <a:off x="9372600" y="4617720"/>
            <a:ext cx="1645920" cy="137160"/>
          </a:xfrm>
          <a:prstGeom prst="line">
            <a:avLst/>
          </a:prstGeom>
          <a:noFill/>
          <a:ln w="10160">
            <a:solidFill>
              <a:srgbClr val="55CBEA"/>
            </a:solidFill>
            <a:prstDash val="dash"/>
            <a:tailEnd type="none"/>
          </a:ln>
        </p:spPr>
      </p:sp>
      <p:sp>
        <p:nvSpPr>
          <p:cNvPr id="26" name="Shape 23"/>
          <p:cNvSpPr/>
          <p:nvPr/>
        </p:nvSpPr>
        <p:spPr>
          <a:xfrm>
            <a:off x="8183880" y="1371600"/>
            <a:ext cx="274320" cy="274320"/>
          </a:xfrm>
          <a:prstGeom prst="ellipse">
            <a:avLst/>
          </a:prstGeom>
          <a:solidFill>
            <a:srgbClr val="19B8E6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409176" y="1956816"/>
            <a:ext cx="201168" cy="201168"/>
          </a:xfrm>
          <a:prstGeom prst="ellipse">
            <a:avLst/>
          </a:prstGeom>
          <a:solidFill>
            <a:srgbClr val="1176D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070848" y="2258568"/>
            <a:ext cx="877824" cy="274320"/>
          </a:xfrm>
          <a:prstGeom prst="roundRect">
            <a:avLst>
              <a:gd name="adj" fmla="val 50000"/>
            </a:avLst>
          </a:prstGeom>
          <a:solidFill>
            <a:srgbClr val="1176D4"/>
          </a:solidFill>
          <a:ln w="10160">
            <a:solidFill>
              <a:srgbClr val="1176D4">
                <a:alpha val="0"/>
              </a:srgbClr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070848" y="2263140"/>
            <a:ext cx="8778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10561320" y="1188720"/>
            <a:ext cx="274320" cy="274320"/>
          </a:xfrm>
          <a:prstGeom prst="ellipse">
            <a:avLst/>
          </a:prstGeom>
          <a:solidFill>
            <a:srgbClr val="26C7B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540496" y="2962656"/>
            <a:ext cx="201168" cy="201168"/>
          </a:xfrm>
          <a:prstGeom prst="ellipse">
            <a:avLst/>
          </a:prstGeom>
          <a:solidFill>
            <a:srgbClr val="7679F5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202168" y="3264408"/>
            <a:ext cx="877824" cy="274320"/>
          </a:xfrm>
          <a:prstGeom prst="roundRect">
            <a:avLst>
              <a:gd name="adj" fmla="val 50000"/>
            </a:avLst>
          </a:prstGeom>
          <a:solidFill>
            <a:srgbClr val="7679F5"/>
          </a:solidFill>
          <a:ln w="10160">
            <a:solidFill>
              <a:srgbClr val="7679F5">
                <a:alpha val="0"/>
              </a:srgbClr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202168" y="3268980"/>
            <a:ext cx="8778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10149840" y="3291840"/>
            <a:ext cx="274320" cy="274320"/>
          </a:xfrm>
          <a:prstGeom prst="ellipse">
            <a:avLst/>
          </a:prstGeom>
          <a:solidFill>
            <a:srgbClr val="19B8E6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9848088" y="3630168"/>
            <a:ext cx="877824" cy="274320"/>
          </a:xfrm>
          <a:prstGeom prst="roundRect">
            <a:avLst>
              <a:gd name="adj" fmla="val 50000"/>
            </a:avLst>
          </a:prstGeom>
          <a:solidFill>
            <a:srgbClr val="19B8E6"/>
          </a:solidFill>
          <a:ln w="10160">
            <a:solidFill>
              <a:srgbClr val="19B8E6">
                <a:alpha val="0"/>
              </a:srgbClr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9848088" y="3634740"/>
            <a:ext cx="8778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ALGORITHM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9272016" y="4517136"/>
            <a:ext cx="201168" cy="201168"/>
          </a:xfrm>
          <a:prstGeom prst="ellipse">
            <a:avLst/>
          </a:prstGeom>
          <a:solidFill>
            <a:srgbClr val="26C7B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0881360" y="4617720"/>
            <a:ext cx="274320" cy="274320"/>
          </a:xfrm>
          <a:prstGeom prst="ellipse">
            <a:avLst/>
          </a:prstGeom>
          <a:solidFill>
            <a:srgbClr val="1176D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467344" y="5998464"/>
            <a:ext cx="31089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0" name="Image 1" descr="/home/wangyu/a2a/doc/PPT模板_assets/北京邮电大学校名标识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6071616"/>
            <a:ext cx="283464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743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kern="0" spc="220" dirty="0">
                <a:solidFill>
                  <a:srgbClr val="117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BACKGROUND / WHY NOW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548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为什么需要Chain2Web？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051560"/>
            <a:ext cx="685800" cy="50292"/>
          </a:xfrm>
          <a:prstGeom prst="rect">
            <a:avLst/>
          </a:prstGeom>
          <a:solidFill>
            <a:srgbClr val="19B8E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064240" y="393192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8FA0B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6528816"/>
            <a:ext cx="11000232" cy="0"/>
          </a:xfrm>
          <a:prstGeom prst="line">
            <a:avLst/>
          </a:prstGeom>
          <a:noFill/>
          <a:ln w="8890">
            <a:solidFill>
              <a:srgbClr val="DDE6EE"/>
            </a:solidFill>
            <a:prstDash val="solid"/>
            <a:tailEnd type="none"/>
          </a:ln>
        </p:spPr>
      </p:sp>
      <p:sp>
        <p:nvSpPr>
          <p:cNvPr id="7" name="Text 5"/>
          <p:cNvSpPr txBox="1"/>
          <p:nvPr/>
        </p:nvSpPr>
        <p:spPr>
          <a:xfrm>
            <a:off x="594360" y="65653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8FA0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北京邮电大学｜Chain2Web 项目组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8732520" y="656539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8FA0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所有图形均应保持可编辑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9857232" y="923544"/>
            <a:ext cx="1719072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0160">
            <a:solidFill>
              <a:srgbClr val="064A9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857232" y="928116"/>
            <a:ext cx="1719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4A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三卡片问题页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3401568" cy="3364992"/>
          </a:xfrm>
          <a:prstGeom prst="roundRect">
            <a:avLst>
              <a:gd name="adj" fmla="val 2717"/>
            </a:avLst>
          </a:prstGeom>
          <a:solidFill>
            <a:srgbClr val="FFFFFF"/>
          </a:solidFill>
          <a:ln w="10160">
            <a:solidFill>
              <a:srgbClr val="D7E1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1444752"/>
            <a:ext cx="3401568" cy="73152"/>
          </a:xfrm>
          <a:prstGeom prst="rect">
            <a:avLst/>
          </a:prstGeom>
          <a:solidFill>
            <a:srgbClr val="1176D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23544" y="1837944"/>
            <a:ext cx="256032" cy="256032"/>
          </a:xfrm>
          <a:prstGeom prst="ellipse">
            <a:avLst/>
          </a:prstGeom>
          <a:solidFill>
            <a:srgbClr val="1176D4"/>
          </a:solidFill>
          <a:ln w="12700">
            <a:solidFill>
              <a:srgbClr val="1176D4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50976" y="1856232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1289304" y="181051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算法分散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969264" y="2450592"/>
            <a:ext cx="2761488" cy="9875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不同模型、程序和服务接口不统一，算法资产难以被持续复用。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69264" y="4041648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0160">
            <a:solidFill>
              <a:srgbClr val="1176D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9264" y="4046220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7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资产问题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2103120" y="4032504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FA0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用一条事实或证据支撑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425696" y="1444752"/>
            <a:ext cx="3401568" cy="3364992"/>
          </a:xfrm>
          <a:prstGeom prst="roundRect">
            <a:avLst>
              <a:gd name="adj" fmla="val 2717"/>
            </a:avLst>
          </a:prstGeom>
          <a:solidFill>
            <a:srgbClr val="FFFFFF"/>
          </a:solidFill>
          <a:ln w="10160">
            <a:solidFill>
              <a:srgbClr val="D7E1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25696" y="1444752"/>
            <a:ext cx="3401568" cy="73152"/>
          </a:xfrm>
          <a:prstGeom prst="rect">
            <a:avLst/>
          </a:prstGeom>
          <a:solidFill>
            <a:srgbClr val="7679F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90872" y="1837944"/>
            <a:ext cx="256032" cy="256032"/>
          </a:xfrm>
          <a:prstGeom prst="ellipse">
            <a:avLst/>
          </a:prstGeom>
          <a:solidFill>
            <a:srgbClr val="7679F5"/>
          </a:solidFill>
          <a:ln w="12700">
            <a:solidFill>
              <a:srgbClr val="7679F5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18304" y="1856232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5056632" y="181051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节点异构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4736592" y="2450592"/>
            <a:ext cx="2761488" cy="9875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算力、依赖和实时负载不断变化，静态部署难以适应运行环境。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736592" y="4041648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0160">
            <a:solidFill>
              <a:srgbClr val="7679F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736592" y="4046220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679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资源问题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5870448" y="4032504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FA0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用一条事实或证据支撑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193024" y="1444752"/>
            <a:ext cx="3401568" cy="3364992"/>
          </a:xfrm>
          <a:prstGeom prst="roundRect">
            <a:avLst>
              <a:gd name="adj" fmla="val 2717"/>
            </a:avLst>
          </a:prstGeom>
          <a:solidFill>
            <a:srgbClr val="FFFFFF"/>
          </a:solidFill>
          <a:ln w="10160">
            <a:solidFill>
              <a:srgbClr val="D7E1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93024" y="1444752"/>
            <a:ext cx="3401568" cy="73152"/>
          </a:xfrm>
          <a:prstGeom prst="rect">
            <a:avLst/>
          </a:prstGeom>
          <a:solidFill>
            <a:srgbClr val="26C7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58200" y="1837944"/>
            <a:ext cx="256032" cy="256032"/>
          </a:xfrm>
          <a:prstGeom prst="ellipse">
            <a:avLst/>
          </a:prstGeom>
          <a:solidFill>
            <a:srgbClr val="26C7B8"/>
          </a:solidFill>
          <a:ln w="12700">
            <a:solidFill>
              <a:srgbClr val="26C7B8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485632" y="1856232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8823960" y="181051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能力固化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8503920" y="2450592"/>
            <a:ext cx="2761488" cy="9875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任务预先绑定Agent与算法，局部变化容易导致整条任务链失效。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503920" y="4041648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0160">
            <a:solidFill>
              <a:srgbClr val="26C7B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503920" y="4046220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6C7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协同问题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9637776" y="4032504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FA0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用一条事实或证据支撑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58368" y="5157216"/>
            <a:ext cx="10826496" cy="768096"/>
          </a:xfrm>
          <a:prstGeom prst="roundRect">
            <a:avLst>
              <a:gd name="adj" fmla="val 9524"/>
            </a:avLst>
          </a:prstGeom>
          <a:solidFill>
            <a:srgbClr val="071725"/>
          </a:solidFill>
          <a:ln w="10160">
            <a:solidFill>
              <a:srgbClr val="071725">
                <a:alpha val="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96112" y="535838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9B8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1572768" y="5294376"/>
            <a:ext cx="9372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当节点、算法和任务不断变化时，固定任务链难以稳定适应。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743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kern="0" spc="220" dirty="0">
                <a:solidFill>
                  <a:srgbClr val="117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CONCEPT / CHAIN TO WEB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548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从固定任务链拓展为动态能力网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051560"/>
            <a:ext cx="685800" cy="50292"/>
          </a:xfrm>
          <a:prstGeom prst="rect">
            <a:avLst/>
          </a:prstGeom>
          <a:solidFill>
            <a:srgbClr val="19B8E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064240" y="393192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8FA0B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6528816"/>
            <a:ext cx="11000232" cy="0"/>
          </a:xfrm>
          <a:prstGeom prst="line">
            <a:avLst/>
          </a:prstGeom>
          <a:noFill/>
          <a:ln w="8890">
            <a:solidFill>
              <a:srgbClr val="DDE6EE"/>
            </a:solidFill>
            <a:prstDash val="solid"/>
            <a:tailEnd type="none"/>
          </a:ln>
        </p:spPr>
      </p:sp>
      <p:sp>
        <p:nvSpPr>
          <p:cNvPr id="7" name="Text 5"/>
          <p:cNvSpPr txBox="1"/>
          <p:nvPr/>
        </p:nvSpPr>
        <p:spPr>
          <a:xfrm>
            <a:off x="594360" y="65653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8FA0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北京邮电大学｜Chain2Web 项目组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8732520" y="656539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8FA0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所有图形均应保持可编辑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9857232" y="923544"/>
            <a:ext cx="1719072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0160">
            <a:solidFill>
              <a:srgbClr val="064A9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857232" y="928116"/>
            <a:ext cx="1719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4A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左右比较页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58368" y="1417320"/>
            <a:ext cx="5010912" cy="4517136"/>
          </a:xfrm>
          <a:prstGeom prst="roundRect">
            <a:avLst>
              <a:gd name="adj" fmla="val 2024"/>
            </a:avLst>
          </a:prstGeom>
          <a:solidFill>
            <a:srgbClr val="FFFFFF"/>
          </a:solidFill>
          <a:ln w="10160">
            <a:solidFill>
              <a:srgbClr val="D7E1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1832" y="1700784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63758A"/>
          </a:solidFill>
          <a:ln w="10160">
            <a:solidFill>
              <a:srgbClr val="63758A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41832" y="1705356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CHAIN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941832" y="21031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固定任务链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941832" y="249631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步骤与执行者提前绑定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96112" y="3502152"/>
            <a:ext cx="402336" cy="402336"/>
          </a:xfrm>
          <a:prstGeom prst="ellipse">
            <a:avLst/>
          </a:prstGeom>
          <a:solidFill>
            <a:srgbClr val="8FA0B2"/>
          </a:solidFill>
          <a:ln w="12700">
            <a:solidFill>
              <a:srgbClr val="8FA0B2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8096" y="4023360"/>
            <a:ext cx="658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316736" y="3703320"/>
            <a:ext cx="566928" cy="0"/>
          </a:xfrm>
          <a:prstGeom prst="line">
            <a:avLst/>
          </a:prstGeom>
          <a:noFill/>
          <a:ln w="21590">
            <a:solidFill>
              <a:srgbClr val="9BA8B6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901952" y="3502152"/>
            <a:ext cx="402336" cy="402336"/>
          </a:xfrm>
          <a:prstGeom prst="ellipse">
            <a:avLst/>
          </a:prstGeom>
          <a:solidFill>
            <a:srgbClr val="8FA0B2"/>
          </a:solidFill>
          <a:ln w="12700">
            <a:solidFill>
              <a:srgbClr val="8FA0B2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773936" y="4023360"/>
            <a:ext cx="658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322576" y="3703320"/>
            <a:ext cx="566928" cy="0"/>
          </a:xfrm>
          <a:prstGeom prst="line">
            <a:avLst/>
          </a:prstGeom>
          <a:noFill/>
          <a:ln w="21590">
            <a:solidFill>
              <a:srgbClr val="9BA8B6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907792" y="3502152"/>
            <a:ext cx="402336" cy="402336"/>
          </a:xfrm>
          <a:prstGeom prst="ellipse">
            <a:avLst/>
          </a:prstGeom>
          <a:solidFill>
            <a:srgbClr val="F59E57"/>
          </a:solidFill>
          <a:ln w="12700">
            <a:solidFill>
              <a:srgbClr val="F59E57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779776" y="4023360"/>
            <a:ext cx="658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28416" y="3703320"/>
            <a:ext cx="566928" cy="0"/>
          </a:xfrm>
          <a:prstGeom prst="line">
            <a:avLst/>
          </a:prstGeom>
          <a:noFill/>
          <a:ln w="21590">
            <a:solidFill>
              <a:srgbClr val="9BA8B6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913632" y="3502152"/>
            <a:ext cx="402336" cy="402336"/>
          </a:xfrm>
          <a:prstGeom prst="ellipse">
            <a:avLst/>
          </a:prstGeom>
          <a:solidFill>
            <a:srgbClr val="8FA0B2"/>
          </a:solidFill>
          <a:ln w="12700">
            <a:solidFill>
              <a:srgbClr val="8FA0B2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785616" y="4023360"/>
            <a:ext cx="658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334256" y="3703320"/>
            <a:ext cx="566928" cy="0"/>
          </a:xfrm>
          <a:prstGeom prst="line">
            <a:avLst/>
          </a:prstGeom>
          <a:noFill/>
          <a:ln w="21590">
            <a:solidFill>
              <a:srgbClr val="9BA8B6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919472" y="3502152"/>
            <a:ext cx="402336" cy="402336"/>
          </a:xfrm>
          <a:prstGeom prst="ellipse">
            <a:avLst/>
          </a:prstGeom>
          <a:solidFill>
            <a:srgbClr val="8FA0B2"/>
          </a:solidFill>
          <a:ln w="12700">
            <a:solidFill>
              <a:srgbClr val="8FA0B2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791456" y="4023360"/>
            <a:ext cx="658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941832" y="502920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95D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节点或算法变化时，流程需要重新配置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879592" y="1417320"/>
            <a:ext cx="5605272" cy="4517136"/>
          </a:xfrm>
          <a:prstGeom prst="roundRect">
            <a:avLst>
              <a:gd name="adj" fmla="val 2024"/>
            </a:avLst>
          </a:prstGeom>
          <a:solidFill>
            <a:srgbClr val="EBF8FC"/>
          </a:solidFill>
          <a:ln w="10160">
            <a:solidFill>
              <a:srgbClr val="B9E5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81344" y="1700784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19B8E6"/>
          </a:solidFill>
          <a:ln w="10160">
            <a:solidFill>
              <a:srgbClr val="19B8E6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181344" y="1705356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17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6181344" y="21031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动态能力网</a:t>
            </a:r>
            <a:endParaRPr lang="en-US" sz="2100" dirty="0"/>
          </a:p>
        </p:txBody>
      </p:sp>
      <p:sp>
        <p:nvSpPr>
          <p:cNvPr id="35" name="Text 33"/>
          <p:cNvSpPr txBox="1"/>
          <p:nvPr/>
        </p:nvSpPr>
        <p:spPr>
          <a:xfrm>
            <a:off x="6181344" y="24963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流程保持有序，执行能力运行时绑定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720840" y="3456432"/>
            <a:ext cx="960120" cy="0"/>
          </a:xfrm>
          <a:prstGeom prst="line">
            <a:avLst/>
          </a:prstGeom>
          <a:noFill/>
          <a:ln w="15240">
            <a:solidFill>
              <a:srgbClr val="69BFD6"/>
            </a:solidFill>
            <a:prstDash val="solid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6720840" y="3456432"/>
            <a:ext cx="1920240" cy="338328"/>
          </a:xfrm>
          <a:prstGeom prst="line">
            <a:avLst/>
          </a:prstGeom>
          <a:noFill/>
          <a:ln w="15240">
            <a:solidFill>
              <a:srgbClr val="69BFD6"/>
            </a:solidFill>
            <a:prstDash val="solid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7680960" y="2971800"/>
            <a:ext cx="960120" cy="822960"/>
          </a:xfrm>
          <a:prstGeom prst="line">
            <a:avLst/>
          </a:prstGeom>
          <a:noFill/>
          <a:ln w="15240">
            <a:solidFill>
              <a:srgbClr val="69BFD6"/>
            </a:solidFill>
            <a:prstDash val="solid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7680960" y="2971800"/>
            <a:ext cx="1874520" cy="91440"/>
          </a:xfrm>
          <a:prstGeom prst="line">
            <a:avLst/>
          </a:prstGeom>
          <a:noFill/>
          <a:ln w="15240">
            <a:solidFill>
              <a:srgbClr val="69BFD6"/>
            </a:solidFill>
            <a:prstDash val="solid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8641080" y="3794760"/>
            <a:ext cx="914400" cy="0"/>
          </a:xfrm>
          <a:prstGeom prst="line">
            <a:avLst/>
          </a:prstGeom>
          <a:noFill/>
          <a:ln w="15240">
            <a:solidFill>
              <a:srgbClr val="69BFD6"/>
            </a:solidFill>
            <a:prstDash val="solid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8641080" y="3794760"/>
            <a:ext cx="0" cy="795528"/>
          </a:xfrm>
          <a:prstGeom prst="line">
            <a:avLst/>
          </a:prstGeom>
          <a:noFill/>
          <a:ln w="15240">
            <a:solidFill>
              <a:srgbClr val="69BFD6"/>
            </a:solidFill>
            <a:prstDash val="solid"/>
            <a:tailEnd type="none"/>
          </a:ln>
        </p:spPr>
      </p:sp>
      <p:sp>
        <p:nvSpPr>
          <p:cNvPr id="42" name="Shape 40"/>
          <p:cNvSpPr/>
          <p:nvPr/>
        </p:nvSpPr>
        <p:spPr>
          <a:xfrm>
            <a:off x="8641080" y="3794760"/>
            <a:ext cx="850392" cy="886968"/>
          </a:xfrm>
          <a:prstGeom prst="line">
            <a:avLst/>
          </a:prstGeom>
          <a:noFill/>
          <a:ln w="15240">
            <a:solidFill>
              <a:srgbClr val="69BFD6"/>
            </a:solidFill>
            <a:prstDash val="solid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9555480" y="3063240"/>
            <a:ext cx="1005840" cy="594360"/>
          </a:xfrm>
          <a:prstGeom prst="line">
            <a:avLst/>
          </a:prstGeom>
          <a:noFill/>
          <a:ln w="15240">
            <a:solidFill>
              <a:srgbClr val="69BFD6"/>
            </a:solidFill>
            <a:prstDash val="solid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9555480" y="3063240"/>
            <a:ext cx="0" cy="1618488"/>
          </a:xfrm>
          <a:prstGeom prst="line">
            <a:avLst/>
          </a:prstGeom>
          <a:noFill/>
          <a:ln w="15240">
            <a:solidFill>
              <a:srgbClr val="69BFD6"/>
            </a:solidFill>
            <a:prstDash val="solid"/>
            <a:tailEnd type="none"/>
          </a:ln>
        </p:spPr>
      </p:sp>
      <p:sp>
        <p:nvSpPr>
          <p:cNvPr id="45" name="Shape 43"/>
          <p:cNvSpPr/>
          <p:nvPr/>
        </p:nvSpPr>
        <p:spPr>
          <a:xfrm>
            <a:off x="10561320" y="3657600"/>
            <a:ext cx="0" cy="1024128"/>
          </a:xfrm>
          <a:prstGeom prst="line">
            <a:avLst/>
          </a:prstGeom>
          <a:noFill/>
          <a:ln w="15240">
            <a:solidFill>
              <a:srgbClr val="69BFD6"/>
            </a:solidFill>
            <a:prstDash val="solid"/>
            <a:tailEnd type="none"/>
          </a:ln>
        </p:spPr>
      </p:sp>
      <p:sp>
        <p:nvSpPr>
          <p:cNvPr id="46" name="Shape 44"/>
          <p:cNvSpPr/>
          <p:nvPr/>
        </p:nvSpPr>
        <p:spPr>
          <a:xfrm>
            <a:off x="7452360" y="4590288"/>
            <a:ext cx="2039112" cy="91440"/>
          </a:xfrm>
          <a:prstGeom prst="line">
            <a:avLst/>
          </a:prstGeom>
          <a:noFill/>
          <a:ln w="15240">
            <a:solidFill>
              <a:srgbClr val="69BFD6"/>
            </a:solidFill>
            <a:prstDash val="solid"/>
            <a:tailEnd type="none"/>
          </a:ln>
        </p:spPr>
      </p:sp>
      <p:sp>
        <p:nvSpPr>
          <p:cNvPr id="47" name="Shape 45"/>
          <p:cNvSpPr/>
          <p:nvPr/>
        </p:nvSpPr>
        <p:spPr>
          <a:xfrm>
            <a:off x="6592824" y="3328416"/>
            <a:ext cx="256032" cy="256032"/>
          </a:xfrm>
          <a:prstGeom prst="ellipse">
            <a:avLst/>
          </a:prstGeom>
          <a:solidFill>
            <a:srgbClr val="1176D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552944" y="2843784"/>
            <a:ext cx="256032" cy="256032"/>
          </a:xfrm>
          <a:prstGeom prst="ellipse">
            <a:avLst/>
          </a:prstGeom>
          <a:solidFill>
            <a:srgbClr val="26C7B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439912" y="3593592"/>
            <a:ext cx="402336" cy="402336"/>
          </a:xfrm>
          <a:prstGeom prst="ellipse">
            <a:avLst/>
          </a:prstGeom>
          <a:solidFill>
            <a:srgbClr val="19B8E6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427464" y="2935224"/>
            <a:ext cx="256032" cy="256032"/>
          </a:xfrm>
          <a:prstGeom prst="ellipse">
            <a:avLst/>
          </a:prstGeom>
          <a:solidFill>
            <a:srgbClr val="7679F5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433304" y="3529584"/>
            <a:ext cx="256032" cy="256032"/>
          </a:xfrm>
          <a:prstGeom prst="ellipse">
            <a:avLst/>
          </a:prstGeom>
          <a:solidFill>
            <a:srgbClr val="1176D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324344" y="4462272"/>
            <a:ext cx="256032" cy="256032"/>
          </a:xfrm>
          <a:prstGeom prst="ellipse">
            <a:avLst/>
          </a:prstGeom>
          <a:solidFill>
            <a:srgbClr val="26C7B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363456" y="4553712"/>
            <a:ext cx="256032" cy="256032"/>
          </a:xfrm>
          <a:prstGeom prst="ellipse">
            <a:avLst/>
          </a:prstGeom>
          <a:solidFill>
            <a:srgbClr val="19B8E6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400800" y="5202936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64A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任务步骤只声明“需要什么技能”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743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kern="0" spc="220" dirty="0">
                <a:solidFill>
                  <a:srgbClr val="117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ARCHITECTURE / OVERVIEW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548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总体架构：任务、能力与执行解耦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051560"/>
            <a:ext cx="685800" cy="50292"/>
          </a:xfrm>
          <a:prstGeom prst="rect">
            <a:avLst/>
          </a:prstGeom>
          <a:solidFill>
            <a:srgbClr val="19B8E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064240" y="393192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8FA0B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6528816"/>
            <a:ext cx="11000232" cy="0"/>
          </a:xfrm>
          <a:prstGeom prst="line">
            <a:avLst/>
          </a:prstGeom>
          <a:noFill/>
          <a:ln w="8890">
            <a:solidFill>
              <a:srgbClr val="DDE6EE"/>
            </a:solidFill>
            <a:prstDash val="solid"/>
            <a:tailEnd type="none"/>
          </a:ln>
        </p:spPr>
      </p:sp>
      <p:sp>
        <p:nvSpPr>
          <p:cNvPr id="7" name="Text 5"/>
          <p:cNvSpPr txBox="1"/>
          <p:nvPr/>
        </p:nvSpPr>
        <p:spPr>
          <a:xfrm>
            <a:off x="594360" y="65653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8FA0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北京邮电大学｜Chain2Web 项目组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8732520" y="656539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8FA0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所有图形均应保持可编辑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9857232" y="923544"/>
            <a:ext cx="1719072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0160">
            <a:solidFill>
              <a:srgbClr val="064A9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857232" y="928116"/>
            <a:ext cx="1719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4A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分层架构页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13232" y="1389888"/>
            <a:ext cx="10771632" cy="713232"/>
          </a:xfrm>
          <a:prstGeom prst="roundRect">
            <a:avLst>
              <a:gd name="adj" fmla="val 10256"/>
            </a:avLst>
          </a:prstGeom>
          <a:solidFill>
            <a:srgbClr val="DDEFFC"/>
          </a:solidFill>
          <a:ln w="10160">
            <a:solidFill>
              <a:srgbClr val="DDEFF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" y="1389888"/>
            <a:ext cx="91440" cy="713232"/>
          </a:xfrm>
          <a:prstGeom prst="rect">
            <a:avLst/>
          </a:prstGeom>
          <a:solidFill>
            <a:srgbClr val="1176D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15270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任务与场景层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990088" y="152704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任务目标｜流程定义｜输入输出｜约束条件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716768" y="1609344"/>
            <a:ext cx="438912" cy="274320"/>
          </a:xfrm>
          <a:prstGeom prst="roundRect">
            <a:avLst>
              <a:gd name="adj" fmla="val 50000"/>
            </a:avLst>
          </a:prstGeom>
          <a:solidFill>
            <a:srgbClr val="1176D4"/>
          </a:solidFill>
          <a:ln w="10160">
            <a:solidFill>
              <a:srgbClr val="1176D4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716768" y="1613916"/>
            <a:ext cx="4389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13232" y="2221992"/>
            <a:ext cx="10771632" cy="822960"/>
          </a:xfrm>
          <a:prstGeom prst="roundRect">
            <a:avLst>
              <a:gd name="adj" fmla="val 8889"/>
            </a:avLst>
          </a:prstGeom>
          <a:solidFill>
            <a:srgbClr val="E6ECFF"/>
          </a:solidFill>
          <a:ln w="10160">
            <a:solidFill>
              <a:srgbClr val="E6EC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221992"/>
            <a:ext cx="91440" cy="822960"/>
          </a:xfrm>
          <a:prstGeom prst="rect">
            <a:avLst/>
          </a:prstGeom>
          <a:solidFill>
            <a:srgbClr val="7679F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05840" y="235915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编排与调度层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2990088" y="2359152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工作流引擎｜技能查询｜运行时匹配｜状态管理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716768" y="2496312"/>
            <a:ext cx="438912" cy="274320"/>
          </a:xfrm>
          <a:prstGeom prst="roundRect">
            <a:avLst>
              <a:gd name="adj" fmla="val 50000"/>
            </a:avLst>
          </a:prstGeom>
          <a:solidFill>
            <a:srgbClr val="7679F5"/>
          </a:solidFill>
          <a:ln w="10160">
            <a:solidFill>
              <a:srgbClr val="7679F5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716768" y="2500884"/>
            <a:ext cx="4389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13232" y="3163824"/>
            <a:ext cx="10771632" cy="822960"/>
          </a:xfrm>
          <a:prstGeom prst="roundRect">
            <a:avLst>
              <a:gd name="adj" fmla="val 8889"/>
            </a:avLst>
          </a:prstGeom>
          <a:solidFill>
            <a:srgbClr val="E4F8F4"/>
          </a:solidFill>
          <a:ln w="10160">
            <a:solidFill>
              <a:srgbClr val="E4F8F4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" y="3163824"/>
            <a:ext cx="91440" cy="822960"/>
          </a:xfrm>
          <a:prstGeom prst="rect">
            <a:avLst/>
          </a:prstGeom>
          <a:solidFill>
            <a:srgbClr val="26C7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05840" y="330098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能力网络层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2990088" y="3300984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Agent注册｜技能目录｜心跳状态｜资源画像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0716768" y="3438144"/>
            <a:ext cx="438912" cy="274320"/>
          </a:xfrm>
          <a:prstGeom prst="roundRect">
            <a:avLst>
              <a:gd name="adj" fmla="val 50000"/>
            </a:avLst>
          </a:prstGeom>
          <a:solidFill>
            <a:srgbClr val="26C7B8"/>
          </a:solidFill>
          <a:ln w="10160">
            <a:solidFill>
              <a:srgbClr val="26C7B8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716768" y="3442716"/>
            <a:ext cx="4389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13232" y="4105656"/>
            <a:ext cx="10771632" cy="822960"/>
          </a:xfrm>
          <a:prstGeom prst="roundRect">
            <a:avLst>
              <a:gd name="adj" fmla="val 8889"/>
            </a:avLst>
          </a:prstGeom>
          <a:solidFill>
            <a:srgbClr val="EAF4FF"/>
          </a:solidFill>
          <a:ln w="10160">
            <a:solidFill>
              <a:srgbClr val="EAF4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3232" y="4105656"/>
            <a:ext cx="91440" cy="822960"/>
          </a:xfrm>
          <a:prstGeom prst="rect">
            <a:avLst/>
          </a:prstGeom>
          <a:solidFill>
            <a:srgbClr val="19B8E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05840" y="424281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算法运行层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2990088" y="4242816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算法卡｜版本与依赖｜Runner｜加载与推理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10716768" y="4379976"/>
            <a:ext cx="438912" cy="274320"/>
          </a:xfrm>
          <a:prstGeom prst="roundRect">
            <a:avLst>
              <a:gd name="adj" fmla="val 50000"/>
            </a:avLst>
          </a:prstGeom>
          <a:solidFill>
            <a:srgbClr val="19B8E6"/>
          </a:solidFill>
          <a:ln w="10160">
            <a:solidFill>
              <a:srgbClr val="19B8E6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716768" y="4384548"/>
            <a:ext cx="4389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13232" y="5047488"/>
            <a:ext cx="10771632" cy="713232"/>
          </a:xfrm>
          <a:prstGeom prst="roundRect">
            <a:avLst>
              <a:gd name="adj" fmla="val 10256"/>
            </a:avLst>
          </a:prstGeom>
          <a:solidFill>
            <a:srgbClr val="EDF1F5"/>
          </a:solidFill>
          <a:ln w="10160">
            <a:solidFill>
              <a:srgbClr val="EDF1F5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13232" y="5047488"/>
            <a:ext cx="91440" cy="713232"/>
          </a:xfrm>
          <a:prstGeom prst="rect">
            <a:avLst/>
          </a:prstGeom>
          <a:solidFill>
            <a:srgbClr val="63758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05840" y="51846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节点与支撑层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2990088" y="518464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异构设备｜通信｜存储｜监控｜可靠执行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10716768" y="5266944"/>
            <a:ext cx="438912" cy="274320"/>
          </a:xfrm>
          <a:prstGeom prst="roundRect">
            <a:avLst>
              <a:gd name="adj" fmla="val 50000"/>
            </a:avLst>
          </a:prstGeom>
          <a:solidFill>
            <a:srgbClr val="63758A"/>
          </a:solidFill>
          <a:ln w="10160">
            <a:solidFill>
              <a:srgbClr val="63758A">
                <a:alpha val="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0716768" y="5271516"/>
            <a:ext cx="4389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11228832" y="1627632"/>
            <a:ext cx="0" cy="3877056"/>
          </a:xfrm>
          <a:prstGeom prst="line">
            <a:avLst/>
          </a:prstGeom>
          <a:noFill/>
          <a:ln w="12700">
            <a:solidFill>
              <a:srgbClr val="87A8BA"/>
            </a:solidFill>
            <a:prstDash val="dash"/>
            <a:tailEnd type="triangle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743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kern="0" spc="220" dirty="0">
                <a:solidFill>
                  <a:srgbClr val="117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/ ALGORITHM LIBRARY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548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可装卸算法库：把算法变成可管理资产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051560"/>
            <a:ext cx="685800" cy="50292"/>
          </a:xfrm>
          <a:prstGeom prst="rect">
            <a:avLst/>
          </a:prstGeom>
          <a:solidFill>
            <a:srgbClr val="19B8E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064240" y="393192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8FA0B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6528816"/>
            <a:ext cx="11000232" cy="0"/>
          </a:xfrm>
          <a:prstGeom prst="line">
            <a:avLst/>
          </a:prstGeom>
          <a:noFill/>
          <a:ln w="8890">
            <a:solidFill>
              <a:srgbClr val="DDE6EE"/>
            </a:solidFill>
            <a:prstDash val="solid"/>
            <a:tailEnd type="none"/>
          </a:ln>
        </p:spPr>
      </p:sp>
      <p:sp>
        <p:nvSpPr>
          <p:cNvPr id="7" name="Text 5"/>
          <p:cNvSpPr txBox="1"/>
          <p:nvPr/>
        </p:nvSpPr>
        <p:spPr>
          <a:xfrm>
            <a:off x="594360" y="65653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8FA0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北京邮电大学｜Chain2Web 项目组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8732520" y="656539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8FA0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所有图形均应保持可编辑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9857232" y="923544"/>
            <a:ext cx="1719072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0160">
            <a:solidFill>
              <a:srgbClr val="064A9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857232" y="928116"/>
            <a:ext cx="1719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4A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层级＋卡片页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85800" y="1444752"/>
            <a:ext cx="649224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0160">
            <a:solidFill>
              <a:srgbClr val="D7E1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1444752"/>
            <a:ext cx="82296" cy="658368"/>
          </a:xfrm>
          <a:prstGeom prst="rect">
            <a:avLst/>
          </a:prstGeom>
          <a:solidFill>
            <a:srgbClr val="1176D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1563624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服务接入层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2404872" y="1563624"/>
            <a:ext cx="4370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管理｜部署｜执行｜健康｜监控｜追踪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5800" y="2304288"/>
            <a:ext cx="6492240" cy="658368"/>
          </a:xfrm>
          <a:prstGeom prst="roundRect">
            <a:avLst>
              <a:gd name="adj" fmla="val 9722"/>
            </a:avLst>
          </a:prstGeom>
          <a:solidFill>
            <a:srgbClr val="F2F7FA"/>
          </a:solidFill>
          <a:ln w="10160">
            <a:solidFill>
              <a:srgbClr val="D7E1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2304288"/>
            <a:ext cx="82296" cy="658368"/>
          </a:xfrm>
          <a:prstGeom prst="rect">
            <a:avLst/>
          </a:prstGeom>
          <a:solidFill>
            <a:srgbClr val="19B8E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2423160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统一运行层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2404872" y="2423160"/>
            <a:ext cx="4370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 → Runner选择 → 加载 → 推理 → 归一化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5800" y="3163824"/>
            <a:ext cx="649224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0160">
            <a:solidFill>
              <a:srgbClr val="D7E1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163824"/>
            <a:ext cx="82296" cy="658368"/>
          </a:xfrm>
          <a:prstGeom prst="rect">
            <a:avLst/>
          </a:prstGeom>
          <a:solidFill>
            <a:srgbClr val="7679F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0120" y="3282696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算法管理层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2404872" y="3282696"/>
            <a:ext cx="4370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注册表｜版本状态｜功能映射｜部署记录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85800" y="4023360"/>
            <a:ext cx="6492240" cy="658368"/>
          </a:xfrm>
          <a:prstGeom prst="roundRect">
            <a:avLst>
              <a:gd name="adj" fmla="val 9722"/>
            </a:avLst>
          </a:prstGeom>
          <a:solidFill>
            <a:srgbClr val="F2F7FA"/>
          </a:solidFill>
          <a:ln w="10160">
            <a:solidFill>
              <a:srgbClr val="D7E1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4023360"/>
            <a:ext cx="82296" cy="658368"/>
          </a:xfrm>
          <a:prstGeom prst="rect">
            <a:avLst/>
          </a:prstGeom>
          <a:solidFill>
            <a:srgbClr val="26C7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0120" y="4142232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算法资产层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2404872" y="4142232"/>
            <a:ext cx="4370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模型文件｜Schema｜依赖｜配置｜验证样例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85800" y="4882896"/>
            <a:ext cx="649224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0160">
            <a:solidFill>
              <a:srgbClr val="D7E1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" y="4882896"/>
            <a:ext cx="82296" cy="658368"/>
          </a:xfrm>
          <a:prstGeom prst="rect">
            <a:avLst/>
          </a:prstGeom>
          <a:solidFill>
            <a:srgbClr val="63758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60120" y="5001768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节点执行层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2404872" y="5001768"/>
            <a:ext cx="4370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/ GPU / 受控服务节点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479792" y="1444752"/>
            <a:ext cx="3995928" cy="4096512"/>
          </a:xfrm>
          <a:prstGeom prst="roundRect">
            <a:avLst>
              <a:gd name="adj" fmla="val 2288"/>
            </a:avLst>
          </a:prstGeom>
          <a:solidFill>
            <a:srgbClr val="071725"/>
          </a:solidFill>
          <a:ln w="10160">
            <a:solidFill>
              <a:srgbClr val="071725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72400" y="1737360"/>
            <a:ext cx="1444752" cy="274320"/>
          </a:xfrm>
          <a:prstGeom prst="roundRect">
            <a:avLst>
              <a:gd name="adj" fmla="val 50000"/>
            </a:avLst>
          </a:prstGeom>
          <a:solidFill>
            <a:srgbClr val="19B8E6"/>
          </a:solidFill>
          <a:ln w="10160">
            <a:solidFill>
              <a:srgbClr val="19B8E6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72400" y="1741932"/>
            <a:ext cx="14447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17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ALGORITHM CARD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7772400" y="218541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Detection-Light-v2</a:t>
            </a:r>
            <a:endParaRPr lang="en-US" sz="1900" dirty="0"/>
          </a:p>
        </p:txBody>
      </p:sp>
      <p:sp>
        <p:nvSpPr>
          <p:cNvPr id="35" name="Text 33"/>
          <p:cNvSpPr txBox="1"/>
          <p:nvPr/>
        </p:nvSpPr>
        <p:spPr>
          <a:xfrm>
            <a:off x="7790688" y="278892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7896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8833104" y="2788920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图像目标识别</a:t>
            </a:r>
            <a:endParaRPr lang="en-US" sz="1080" dirty="0"/>
          </a:p>
        </p:txBody>
      </p:sp>
      <p:sp>
        <p:nvSpPr>
          <p:cNvPr id="37" name="Shape 35"/>
          <p:cNvSpPr/>
          <p:nvPr/>
        </p:nvSpPr>
        <p:spPr>
          <a:xfrm>
            <a:off x="7790688" y="3099816"/>
            <a:ext cx="3346704" cy="0"/>
          </a:xfrm>
          <a:prstGeom prst="line">
            <a:avLst/>
          </a:prstGeom>
          <a:noFill/>
          <a:ln w="7620">
            <a:solidFill>
              <a:srgbClr val="244356"/>
            </a:solidFill>
            <a:prstDash val="solid"/>
            <a:tailEnd type="none"/>
          </a:ln>
        </p:spPr>
      </p:sp>
      <p:sp>
        <p:nvSpPr>
          <p:cNvPr id="38" name="Text 36"/>
          <p:cNvSpPr txBox="1"/>
          <p:nvPr/>
        </p:nvSpPr>
        <p:spPr>
          <a:xfrm>
            <a:off x="7790688" y="324612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7896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/ 输出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8833104" y="3246120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Image → ObjectList</a:t>
            </a:r>
            <a:endParaRPr lang="en-US" sz="1080" dirty="0"/>
          </a:p>
        </p:txBody>
      </p:sp>
      <p:sp>
        <p:nvSpPr>
          <p:cNvPr id="40" name="Shape 38"/>
          <p:cNvSpPr/>
          <p:nvPr/>
        </p:nvSpPr>
        <p:spPr>
          <a:xfrm>
            <a:off x="7790688" y="3557016"/>
            <a:ext cx="3346704" cy="0"/>
          </a:xfrm>
          <a:prstGeom prst="line">
            <a:avLst/>
          </a:prstGeom>
          <a:noFill/>
          <a:ln w="7620">
            <a:solidFill>
              <a:srgbClr val="244356"/>
            </a:solidFill>
            <a:prstDash val="solid"/>
            <a:tailEnd type="none"/>
          </a:ln>
        </p:spPr>
      </p:sp>
      <p:sp>
        <p:nvSpPr>
          <p:cNvPr id="41" name="Text 39"/>
          <p:cNvSpPr txBox="1"/>
          <p:nvPr/>
        </p:nvSpPr>
        <p:spPr>
          <a:xfrm>
            <a:off x="7790688" y="370332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7896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运行后端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8833104" y="3703320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ONNX Runtime</a:t>
            </a:r>
            <a:endParaRPr lang="en-US" sz="1080" dirty="0"/>
          </a:p>
        </p:txBody>
      </p:sp>
      <p:sp>
        <p:nvSpPr>
          <p:cNvPr id="43" name="Shape 41"/>
          <p:cNvSpPr/>
          <p:nvPr/>
        </p:nvSpPr>
        <p:spPr>
          <a:xfrm>
            <a:off x="7790688" y="4014216"/>
            <a:ext cx="3346704" cy="0"/>
          </a:xfrm>
          <a:prstGeom prst="line">
            <a:avLst/>
          </a:prstGeom>
          <a:noFill/>
          <a:ln w="7620">
            <a:solidFill>
              <a:srgbClr val="244356"/>
            </a:solidFill>
            <a:prstDash val="solid"/>
            <a:tailEnd type="none"/>
          </a:ln>
        </p:spPr>
      </p:sp>
      <p:sp>
        <p:nvSpPr>
          <p:cNvPr id="44" name="Text 42"/>
          <p:cNvSpPr txBox="1"/>
          <p:nvPr/>
        </p:nvSpPr>
        <p:spPr>
          <a:xfrm>
            <a:off x="7790688" y="416052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7896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资源要求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8833104" y="4160520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/ GPU ≥ 2 GB</a:t>
            </a:r>
            <a:endParaRPr lang="en-US" sz="1080" dirty="0"/>
          </a:p>
        </p:txBody>
      </p:sp>
      <p:sp>
        <p:nvSpPr>
          <p:cNvPr id="46" name="Shape 44"/>
          <p:cNvSpPr/>
          <p:nvPr/>
        </p:nvSpPr>
        <p:spPr>
          <a:xfrm>
            <a:off x="7790688" y="4471416"/>
            <a:ext cx="3346704" cy="0"/>
          </a:xfrm>
          <a:prstGeom prst="line">
            <a:avLst/>
          </a:prstGeom>
          <a:noFill/>
          <a:ln w="7620">
            <a:solidFill>
              <a:srgbClr val="244356"/>
            </a:solidFill>
            <a:prstDash val="solid"/>
            <a:tailEnd type="none"/>
          </a:ln>
        </p:spPr>
      </p:sp>
      <p:sp>
        <p:nvSpPr>
          <p:cNvPr id="47" name="Text 45"/>
          <p:cNvSpPr txBox="1"/>
          <p:nvPr/>
        </p:nvSpPr>
        <p:spPr>
          <a:xfrm>
            <a:off x="7790688" y="461772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7896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8833104" y="4617720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6C7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已验证</a:t>
            </a:r>
            <a:endParaRPr lang="en-US" sz="1080" dirty="0"/>
          </a:p>
        </p:txBody>
      </p:sp>
      <p:sp>
        <p:nvSpPr>
          <p:cNvPr id="49" name="Shape 47"/>
          <p:cNvSpPr/>
          <p:nvPr/>
        </p:nvSpPr>
        <p:spPr>
          <a:xfrm>
            <a:off x="7790688" y="4928616"/>
            <a:ext cx="3346704" cy="0"/>
          </a:xfrm>
          <a:prstGeom prst="line">
            <a:avLst/>
          </a:prstGeom>
          <a:noFill/>
          <a:ln w="7620">
            <a:solidFill>
              <a:srgbClr val="244356"/>
            </a:solidFill>
            <a:prstDash val="solid"/>
            <a:tailEnd type="none"/>
          </a:ln>
        </p:spPr>
      </p:sp>
      <p:sp>
        <p:nvSpPr>
          <p:cNvPr id="50" name="Text 48"/>
          <p:cNvSpPr txBox="1"/>
          <p:nvPr/>
        </p:nvSpPr>
        <p:spPr>
          <a:xfrm>
            <a:off x="7589520" y="57332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4A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算法卡统一描述“能做什么、如何运行、需要什么”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743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kern="0" spc="220" dirty="0">
                <a:solidFill>
                  <a:srgbClr val="117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/ DISTRIBUTED AGENT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548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分布式Agent：能力如何接入系统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051560"/>
            <a:ext cx="685800" cy="50292"/>
          </a:xfrm>
          <a:prstGeom prst="rect">
            <a:avLst/>
          </a:prstGeom>
          <a:solidFill>
            <a:srgbClr val="19B8E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064240" y="393192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8FA0B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6528816"/>
            <a:ext cx="11000232" cy="0"/>
          </a:xfrm>
          <a:prstGeom prst="line">
            <a:avLst/>
          </a:prstGeom>
          <a:noFill/>
          <a:ln w="8890">
            <a:solidFill>
              <a:srgbClr val="DDE6EE"/>
            </a:solidFill>
            <a:prstDash val="solid"/>
            <a:tailEnd type="none"/>
          </a:ln>
        </p:spPr>
      </p:sp>
      <p:sp>
        <p:nvSpPr>
          <p:cNvPr id="7" name="Text 5"/>
          <p:cNvSpPr txBox="1"/>
          <p:nvPr/>
        </p:nvSpPr>
        <p:spPr>
          <a:xfrm>
            <a:off x="594360" y="65653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8FA0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北京邮电大学｜Chain2Web 项目组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8732520" y="656539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8FA0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所有图形均应保持可编辑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9857232" y="923544"/>
            <a:ext cx="1719072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0160">
            <a:solidFill>
              <a:srgbClr val="064A9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857232" y="928116"/>
            <a:ext cx="1719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4A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生命周期页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536192" y="2971800"/>
            <a:ext cx="950976" cy="0"/>
          </a:xfrm>
          <a:prstGeom prst="line">
            <a:avLst/>
          </a:prstGeom>
          <a:noFill/>
          <a:ln w="19050">
            <a:solidFill>
              <a:srgbClr val="83B8C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69264" y="2660904"/>
            <a:ext cx="621792" cy="621792"/>
          </a:xfrm>
          <a:prstGeom prst="ellipse">
            <a:avLst/>
          </a:prstGeom>
          <a:solidFill>
            <a:srgbClr val="1176D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14984" y="2852928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01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786384" y="34472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" y="37947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加载Agent运行时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374136" y="2971800"/>
            <a:ext cx="950976" cy="0"/>
          </a:xfrm>
          <a:prstGeom prst="line">
            <a:avLst/>
          </a:prstGeom>
          <a:noFill/>
          <a:ln w="19050">
            <a:solidFill>
              <a:srgbClr val="83B8C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807208" y="2660904"/>
            <a:ext cx="621792" cy="621792"/>
          </a:xfrm>
          <a:prstGeom prst="ellipse">
            <a:avLst/>
          </a:prstGeom>
          <a:solidFill>
            <a:srgbClr val="19B8E6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852928" y="2852928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624328" y="34472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2487168" y="37947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采集本机资源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212080" y="2971800"/>
            <a:ext cx="950976" cy="0"/>
          </a:xfrm>
          <a:prstGeom prst="line">
            <a:avLst/>
          </a:prstGeom>
          <a:noFill/>
          <a:ln w="19050">
            <a:solidFill>
              <a:srgbClr val="83B8CC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645152" y="2660904"/>
            <a:ext cx="621792" cy="621792"/>
          </a:xfrm>
          <a:prstGeom prst="ellipse">
            <a:avLst/>
          </a:prstGeom>
          <a:solidFill>
            <a:srgbClr val="1176D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690872" y="2852928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462272" y="34472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装载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325112" y="37947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发现可用算法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050024" y="2971800"/>
            <a:ext cx="950976" cy="0"/>
          </a:xfrm>
          <a:prstGeom prst="line">
            <a:avLst/>
          </a:prstGeom>
          <a:noFill/>
          <a:ln w="19050">
            <a:solidFill>
              <a:srgbClr val="83B8CC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483096" y="2660904"/>
            <a:ext cx="621792" cy="621792"/>
          </a:xfrm>
          <a:prstGeom prst="ellipse">
            <a:avLst/>
          </a:prstGeom>
          <a:solidFill>
            <a:srgbClr val="19B8E6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28816" y="2852928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04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300216" y="34472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163056" y="37947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生成技能描述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887968" y="2971800"/>
            <a:ext cx="950976" cy="0"/>
          </a:xfrm>
          <a:prstGeom prst="line">
            <a:avLst/>
          </a:prstGeom>
          <a:noFill/>
          <a:ln w="19050">
            <a:solidFill>
              <a:srgbClr val="83B8CC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321040" y="2660904"/>
            <a:ext cx="621792" cy="621792"/>
          </a:xfrm>
          <a:prstGeom prst="ellipse">
            <a:avLst/>
          </a:prstGeom>
          <a:solidFill>
            <a:srgbClr val="1176D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366760" y="2852928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05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8138160" y="34472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8001000" y="37947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接入能力目录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0158984" y="2660904"/>
            <a:ext cx="621792" cy="621792"/>
          </a:xfrm>
          <a:prstGeom prst="ellipse">
            <a:avLst/>
          </a:prstGeom>
          <a:solidFill>
            <a:srgbClr val="26C7B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204704" y="2852928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06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9976104" y="34472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9838944" y="37947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心跳与任务执行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49808" y="4937760"/>
            <a:ext cx="10698480" cy="749808"/>
          </a:xfrm>
          <a:prstGeom prst="roundRect">
            <a:avLst>
              <a:gd name="adj" fmla="val 9756"/>
            </a:avLst>
          </a:prstGeom>
          <a:solidFill>
            <a:srgbClr val="EAF6FA"/>
          </a:solidFill>
          <a:ln w="10160">
            <a:solidFill>
              <a:srgbClr val="C6E6F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69264" y="5166360"/>
            <a:ext cx="510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64A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本页只回答：Agent如何上线、声明能力并保持在线。</a:t>
            </a:r>
            <a:endParaRPr lang="en-US" sz="1350" dirty="0"/>
          </a:p>
        </p:txBody>
      </p:sp>
      <p:sp>
        <p:nvSpPr>
          <p:cNvPr id="42" name="Text 40"/>
          <p:cNvSpPr txBox="1"/>
          <p:nvPr/>
        </p:nvSpPr>
        <p:spPr>
          <a:xfrm>
            <a:off x="6126480" y="5166360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异常恢复和执行追踪放在“任务运行保障”页展开。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743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kern="0" spc="220" dirty="0">
                <a:solidFill>
                  <a:srgbClr val="117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/ DYNAMIC SKILL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548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动态技能形成：Agent能做什么，由当前条件决定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051560"/>
            <a:ext cx="685800" cy="50292"/>
          </a:xfrm>
          <a:prstGeom prst="rect">
            <a:avLst/>
          </a:prstGeom>
          <a:solidFill>
            <a:srgbClr val="19B8E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064240" y="393192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8FA0B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6528816"/>
            <a:ext cx="11000232" cy="0"/>
          </a:xfrm>
          <a:prstGeom prst="line">
            <a:avLst/>
          </a:prstGeom>
          <a:noFill/>
          <a:ln w="8890">
            <a:solidFill>
              <a:srgbClr val="DDE6EE"/>
            </a:solidFill>
            <a:prstDash val="solid"/>
            <a:tailEnd type="none"/>
          </a:ln>
        </p:spPr>
      </p:sp>
      <p:sp>
        <p:nvSpPr>
          <p:cNvPr id="7" name="Text 5"/>
          <p:cNvSpPr txBox="1"/>
          <p:nvPr/>
        </p:nvSpPr>
        <p:spPr>
          <a:xfrm>
            <a:off x="594360" y="65653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8FA0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北京邮电大学｜Chain2Web 项目组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8732520" y="656539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8FA0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所有图形均应保持可编辑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9857232" y="923544"/>
            <a:ext cx="1719072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0160">
            <a:solidFill>
              <a:srgbClr val="064A9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857232" y="928116"/>
            <a:ext cx="1719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4A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输入—匹配—输出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58368" y="1371600"/>
            <a:ext cx="2852928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0160">
            <a:solidFill>
              <a:srgbClr val="D7E1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1371600"/>
            <a:ext cx="73152" cy="987552"/>
          </a:xfrm>
          <a:prstGeom prst="rect">
            <a:avLst/>
          </a:prstGeom>
          <a:solidFill>
            <a:srgbClr val="1176D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32688" y="1490472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节点资源画像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932688" y="181051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/ GPU / 内存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系统、依赖与设备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529584" y="1865376"/>
            <a:ext cx="1133856" cy="1042416"/>
          </a:xfrm>
          <a:prstGeom prst="line">
            <a:avLst/>
          </a:prstGeom>
          <a:noFill/>
          <a:ln w="13970">
            <a:solidFill>
              <a:srgbClr val="89B5C6"/>
            </a:solidFill>
            <a:prstDash val="dash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58368" y="2633472"/>
            <a:ext cx="2852928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0160">
            <a:solidFill>
              <a:srgbClr val="D7E1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2633472"/>
            <a:ext cx="73152" cy="987552"/>
          </a:xfrm>
          <a:prstGeom prst="rect">
            <a:avLst/>
          </a:prstGeom>
          <a:solidFill>
            <a:srgbClr val="7679F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32688" y="2752344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算法能力卡片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932688" y="3072384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功能、Schema、版本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最低资源与执行后端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529584" y="3127248"/>
            <a:ext cx="1133856" cy="0"/>
          </a:xfrm>
          <a:prstGeom prst="line">
            <a:avLst/>
          </a:prstGeom>
          <a:noFill/>
          <a:ln w="13970">
            <a:solidFill>
              <a:srgbClr val="89B5C6"/>
            </a:solidFill>
            <a:prstDash val="dash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58368" y="3895344"/>
            <a:ext cx="2852928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0160">
            <a:solidFill>
              <a:srgbClr val="D7E1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3895344"/>
            <a:ext cx="73152" cy="987552"/>
          </a:xfrm>
          <a:prstGeom prst="rect">
            <a:avLst/>
          </a:prstGeom>
          <a:solidFill>
            <a:srgbClr val="26C7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32688" y="4014216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实时运行状态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932688" y="4334256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在线、负载、余量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算法加载与任务数量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529584" y="4389120"/>
            <a:ext cx="1133856" cy="0"/>
          </a:xfrm>
          <a:prstGeom prst="line">
            <a:avLst/>
          </a:prstGeom>
          <a:noFill/>
          <a:ln w="13970">
            <a:solidFill>
              <a:srgbClr val="89B5C6"/>
            </a:solidFill>
            <a:prstDash val="dash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617720" y="2002536"/>
            <a:ext cx="2423160" cy="1810512"/>
          </a:xfrm>
          <a:prstGeom prst="roundRect">
            <a:avLst>
              <a:gd name="adj" fmla="val 6061"/>
            </a:avLst>
          </a:prstGeom>
          <a:solidFill>
            <a:srgbClr val="071725"/>
          </a:solidFill>
          <a:ln w="10160">
            <a:solidFill>
              <a:srgbClr val="071725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9194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能力匹配引擎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5056632" y="2798064"/>
            <a:ext cx="1554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A9C7D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能否运行？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9C7D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能否完成？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9C7D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当前是否可用？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059168" y="2907792"/>
            <a:ext cx="777240" cy="0"/>
          </a:xfrm>
          <a:prstGeom prst="line">
            <a:avLst/>
          </a:prstGeom>
          <a:noFill/>
          <a:ln w="25400">
            <a:solidFill>
              <a:srgbClr val="19B8E6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891272" y="1399032"/>
            <a:ext cx="3611880" cy="3127248"/>
          </a:xfrm>
          <a:prstGeom prst="roundRect">
            <a:avLst>
              <a:gd name="adj" fmla="val 2924"/>
            </a:avLst>
          </a:prstGeom>
          <a:solidFill>
            <a:srgbClr val="E8FAF6"/>
          </a:solidFill>
          <a:ln w="10160">
            <a:solidFill>
              <a:srgbClr val="A8E6D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74736" y="1682496"/>
            <a:ext cx="1344168" cy="274320"/>
          </a:xfrm>
          <a:prstGeom prst="roundRect">
            <a:avLst>
              <a:gd name="adj" fmla="val 50000"/>
            </a:avLst>
          </a:prstGeom>
          <a:solidFill>
            <a:srgbClr val="26C7B8"/>
          </a:solidFill>
          <a:ln w="10160">
            <a:solidFill>
              <a:srgbClr val="26C7B8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174736" y="1687068"/>
            <a:ext cx="1344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17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CURRENT SKILL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8174736" y="2148840"/>
            <a:ext cx="2606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图像目标识别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8183880" y="2651760"/>
            <a:ext cx="685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提供者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8924544" y="2651760"/>
            <a:ext cx="2148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Agent-03</a:t>
            </a:r>
            <a:endParaRPr lang="en-US" sz="1020" dirty="0"/>
          </a:p>
        </p:txBody>
      </p:sp>
      <p:sp>
        <p:nvSpPr>
          <p:cNvPr id="36" name="Text 34"/>
          <p:cNvSpPr txBox="1"/>
          <p:nvPr/>
        </p:nvSpPr>
        <p:spPr>
          <a:xfrm>
            <a:off x="8183880" y="2999232"/>
            <a:ext cx="685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8924544" y="2999232"/>
            <a:ext cx="2148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Detection-Light-v2</a:t>
            </a:r>
            <a:endParaRPr lang="en-US" sz="1020" dirty="0"/>
          </a:p>
        </p:txBody>
      </p:sp>
      <p:sp>
        <p:nvSpPr>
          <p:cNvPr id="38" name="Text 36"/>
          <p:cNvSpPr txBox="1"/>
          <p:nvPr/>
        </p:nvSpPr>
        <p:spPr>
          <a:xfrm>
            <a:off x="8183880" y="3346704"/>
            <a:ext cx="685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I/O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8924544" y="3346704"/>
            <a:ext cx="2148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Image → ObjectList</a:t>
            </a:r>
            <a:endParaRPr lang="en-US" sz="1020" dirty="0"/>
          </a:p>
        </p:txBody>
      </p:sp>
      <p:sp>
        <p:nvSpPr>
          <p:cNvPr id="40" name="Text 38"/>
          <p:cNvSpPr txBox="1"/>
          <p:nvPr/>
        </p:nvSpPr>
        <p:spPr>
          <a:xfrm>
            <a:off x="8183880" y="3694176"/>
            <a:ext cx="685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8924544" y="3694176"/>
            <a:ext cx="2148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37B8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可用</a:t>
            </a:r>
            <a:endParaRPr lang="en-US" sz="1020" dirty="0"/>
          </a:p>
        </p:txBody>
      </p:sp>
      <p:sp>
        <p:nvSpPr>
          <p:cNvPr id="42" name="Text 40"/>
          <p:cNvSpPr txBox="1"/>
          <p:nvPr/>
        </p:nvSpPr>
        <p:spPr>
          <a:xfrm>
            <a:off x="8183880" y="4041648"/>
            <a:ext cx="685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有效条件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8924544" y="4041648"/>
            <a:ext cx="2148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显存 ≥ 2 GB</a:t>
            </a:r>
            <a:endParaRPr lang="en-US" sz="1020" dirty="0"/>
          </a:p>
        </p:txBody>
      </p:sp>
      <p:sp>
        <p:nvSpPr>
          <p:cNvPr id="44" name="Shape 42"/>
          <p:cNvSpPr/>
          <p:nvPr/>
        </p:nvSpPr>
        <p:spPr>
          <a:xfrm>
            <a:off x="658368" y="4846320"/>
            <a:ext cx="1084478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7E1E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96112" y="50749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64A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状态变化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938528" y="5010912"/>
            <a:ext cx="429768" cy="274320"/>
          </a:xfrm>
          <a:prstGeom prst="roundRect">
            <a:avLst>
              <a:gd name="adj" fmla="val 50000"/>
            </a:avLst>
          </a:prstGeom>
          <a:solidFill>
            <a:srgbClr val="1176D4"/>
          </a:solidFill>
          <a:ln w="10160">
            <a:solidFill>
              <a:srgbClr val="1176D4">
                <a:alpha val="0"/>
              </a:srgbClr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938528" y="5015484"/>
            <a:ext cx="429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T1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2487168" y="4983480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GPU空闲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3291840" y="498348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高精度算法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983480" y="5010912"/>
            <a:ext cx="429768" cy="274320"/>
          </a:xfrm>
          <a:prstGeom prst="roundRect">
            <a:avLst>
              <a:gd name="adj" fmla="val 50000"/>
            </a:avLst>
          </a:prstGeom>
          <a:solidFill>
            <a:srgbClr val="F59E57"/>
          </a:solidFill>
          <a:ln w="10160">
            <a:solidFill>
              <a:srgbClr val="F59E57">
                <a:alpha val="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4983480" y="5015484"/>
            <a:ext cx="429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T2</a:t>
            </a:r>
            <a:endParaRPr lang="en-US" sz="950" dirty="0"/>
          </a:p>
        </p:txBody>
      </p:sp>
      <p:sp>
        <p:nvSpPr>
          <p:cNvPr id="52" name="Text 50"/>
          <p:cNvSpPr txBox="1"/>
          <p:nvPr/>
        </p:nvSpPr>
        <p:spPr>
          <a:xfrm>
            <a:off x="5532120" y="4983480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负载升高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6336792" y="498348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轻量算法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8028432" y="5010912"/>
            <a:ext cx="429768" cy="274320"/>
          </a:xfrm>
          <a:prstGeom prst="roundRect">
            <a:avLst>
              <a:gd name="adj" fmla="val 50000"/>
            </a:avLst>
          </a:prstGeom>
          <a:solidFill>
            <a:srgbClr val="E95D67"/>
          </a:solidFill>
          <a:ln w="10160">
            <a:solidFill>
              <a:srgbClr val="E95D67">
                <a:alpha val="0"/>
              </a:srgbClr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8028432" y="5015484"/>
            <a:ext cx="429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T3</a:t>
            </a:r>
            <a:endParaRPr lang="en-US" sz="950" dirty="0"/>
          </a:p>
        </p:txBody>
      </p:sp>
      <p:sp>
        <p:nvSpPr>
          <p:cNvPr id="56" name="Text 54"/>
          <p:cNvSpPr txBox="1"/>
          <p:nvPr/>
        </p:nvSpPr>
        <p:spPr>
          <a:xfrm>
            <a:off x="8577072" y="4983480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服务异常</a:t>
            </a:r>
            <a:endParaRPr lang="en-US" sz="1050" dirty="0"/>
          </a:p>
        </p:txBody>
      </p:sp>
      <p:sp>
        <p:nvSpPr>
          <p:cNvPr id="57" name="Text 55"/>
          <p:cNvSpPr txBox="1"/>
          <p:nvPr/>
        </p:nvSpPr>
        <p:spPr>
          <a:xfrm>
            <a:off x="9381744" y="498348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技能下线 / 重匹配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743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kern="0" spc="220" dirty="0">
                <a:solidFill>
                  <a:srgbClr val="117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/ RUNTIME BINDING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548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运行时动态匹配：先选Agent，再由Agent选择算法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051560"/>
            <a:ext cx="685800" cy="50292"/>
          </a:xfrm>
          <a:prstGeom prst="rect">
            <a:avLst/>
          </a:prstGeom>
          <a:solidFill>
            <a:srgbClr val="19B8E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064240" y="393192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8FA0B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6528816"/>
            <a:ext cx="11000232" cy="0"/>
          </a:xfrm>
          <a:prstGeom prst="line">
            <a:avLst/>
          </a:prstGeom>
          <a:noFill/>
          <a:ln w="8890">
            <a:solidFill>
              <a:srgbClr val="DDE6EE"/>
            </a:solidFill>
            <a:prstDash val="solid"/>
            <a:tailEnd type="none"/>
          </a:ln>
        </p:spPr>
      </p:sp>
      <p:sp>
        <p:nvSpPr>
          <p:cNvPr id="7" name="Text 5"/>
          <p:cNvSpPr txBox="1"/>
          <p:nvPr/>
        </p:nvSpPr>
        <p:spPr>
          <a:xfrm>
            <a:off x="594360" y="65653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8FA0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北京邮电大学｜Chain2Web 项目组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8732520" y="656539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8FA0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所有图形均应保持可编辑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9857232" y="923544"/>
            <a:ext cx="1719072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0160">
            <a:solidFill>
              <a:srgbClr val="064A9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857232" y="928116"/>
            <a:ext cx="1719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4A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双阶段流程页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13232" y="1965960"/>
            <a:ext cx="1572768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0160">
            <a:solidFill>
              <a:srgbClr val="D7E1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" y="1965960"/>
            <a:ext cx="1572768" cy="64008"/>
          </a:xfrm>
          <a:prstGeom prst="rect">
            <a:avLst/>
          </a:prstGeom>
          <a:solidFill>
            <a:srgbClr val="064A9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9536" y="2249424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任务步骤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" y="2642616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requiredSkill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0" y="2560320"/>
            <a:ext cx="256032" cy="0"/>
          </a:xfrm>
          <a:prstGeom prst="line">
            <a:avLst/>
          </a:prstGeom>
          <a:noFill/>
          <a:ln w="20320">
            <a:solidFill>
              <a:srgbClr val="76A7B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578608" y="196596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0160">
            <a:solidFill>
              <a:srgbClr val="D7E1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78608" y="1965960"/>
            <a:ext cx="1874520" cy="64008"/>
          </a:xfrm>
          <a:prstGeom prst="rect">
            <a:avLst/>
          </a:prstGeom>
          <a:solidFill>
            <a:srgbClr val="1176D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724912" y="2249424"/>
            <a:ext cx="15819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筛选健康Agent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2706624" y="2642616"/>
            <a:ext cx="1618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 / 资源 / 负载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453128" y="2560320"/>
            <a:ext cx="283464" cy="0"/>
          </a:xfrm>
          <a:prstGeom prst="line">
            <a:avLst/>
          </a:prstGeom>
          <a:noFill/>
          <a:ln w="20320">
            <a:solidFill>
              <a:srgbClr val="76A7B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773168" y="1965960"/>
            <a:ext cx="1572768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0160">
            <a:solidFill>
              <a:srgbClr val="D7E1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73168" y="1965960"/>
            <a:ext cx="1572768" cy="64008"/>
          </a:xfrm>
          <a:prstGeom prst="rect">
            <a:avLst/>
          </a:prstGeom>
          <a:solidFill>
            <a:srgbClr val="7679F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919472" y="2249424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获得执行权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901184" y="2642616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租约与任务实例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345936" y="2560320"/>
            <a:ext cx="274320" cy="0"/>
          </a:xfrm>
          <a:prstGeom prst="line">
            <a:avLst/>
          </a:prstGeom>
          <a:noFill/>
          <a:ln w="20320">
            <a:solidFill>
              <a:srgbClr val="76A7BA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656832" y="1965960"/>
            <a:ext cx="185623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0160">
            <a:solidFill>
              <a:srgbClr val="D7E1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56832" y="1965960"/>
            <a:ext cx="1856232" cy="64008"/>
          </a:xfrm>
          <a:prstGeom prst="rect">
            <a:avLst/>
          </a:prstGeom>
          <a:solidFill>
            <a:srgbClr val="26C7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03136" y="2249424"/>
            <a:ext cx="15636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选择算法版本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784848" y="2642616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 / 后端 / 当前状态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513064" y="2560320"/>
            <a:ext cx="283464" cy="0"/>
          </a:xfrm>
          <a:prstGeom prst="line">
            <a:avLst/>
          </a:prstGeom>
          <a:noFill/>
          <a:ln w="20320">
            <a:solidFill>
              <a:srgbClr val="76A7BA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833104" y="1965960"/>
            <a:ext cx="13716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0160">
            <a:solidFill>
              <a:srgbClr val="D7E1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833104" y="1965960"/>
            <a:ext cx="1371600" cy="64008"/>
          </a:xfrm>
          <a:prstGeom prst="rect">
            <a:avLst/>
          </a:prstGeom>
          <a:solidFill>
            <a:srgbClr val="19B8E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979408" y="2249424"/>
            <a:ext cx="10789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961120" y="2642616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本地或服务节点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0204704" y="2560320"/>
            <a:ext cx="274320" cy="0"/>
          </a:xfrm>
          <a:prstGeom prst="line">
            <a:avLst/>
          </a:prstGeom>
          <a:noFill/>
          <a:ln w="20320">
            <a:solidFill>
              <a:srgbClr val="76A7BA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515600" y="1965960"/>
            <a:ext cx="960120" cy="11887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7E1E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515600" y="1965960"/>
            <a:ext cx="960120" cy="64008"/>
          </a:xfrm>
          <a:prstGeom prst="rect">
            <a:avLst/>
          </a:prstGeom>
          <a:solidFill>
            <a:srgbClr val="37B8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661904" y="2249424"/>
            <a:ext cx="6675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10643616" y="2642616"/>
            <a:ext cx="704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960120" y="3822192"/>
            <a:ext cx="4983480" cy="1143000"/>
          </a:xfrm>
          <a:prstGeom prst="roundRect">
            <a:avLst>
              <a:gd name="adj" fmla="val 6400"/>
            </a:avLst>
          </a:prstGeom>
          <a:solidFill>
            <a:srgbClr val="EAF3FC"/>
          </a:solidFill>
          <a:ln w="10160">
            <a:solidFill>
              <a:srgbClr val="C5DC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188720" y="4069080"/>
            <a:ext cx="1207008" cy="274320"/>
          </a:xfrm>
          <a:prstGeom prst="roundRect">
            <a:avLst>
              <a:gd name="adj" fmla="val 50000"/>
            </a:avLst>
          </a:prstGeom>
          <a:solidFill>
            <a:srgbClr val="1176D4"/>
          </a:solidFill>
          <a:ln w="10160">
            <a:solidFill>
              <a:srgbClr val="1176D4">
                <a:alpha val="0"/>
              </a:srgb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188720" y="4073652"/>
            <a:ext cx="1207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COMMANDER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2560320" y="4005072"/>
            <a:ext cx="30449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4A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根据任务所需技能和运行状态决定“谁来做”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217920" y="3822192"/>
            <a:ext cx="4617720" cy="1143000"/>
          </a:xfrm>
          <a:prstGeom prst="roundRect">
            <a:avLst>
              <a:gd name="adj" fmla="val 6400"/>
            </a:avLst>
          </a:prstGeom>
          <a:solidFill>
            <a:srgbClr val="E8FAF6"/>
          </a:solidFill>
          <a:ln w="10160">
            <a:solidFill>
              <a:srgbClr val="BCE7D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64808" y="4069080"/>
            <a:ext cx="832104" cy="274320"/>
          </a:xfrm>
          <a:prstGeom prst="roundRect">
            <a:avLst>
              <a:gd name="adj" fmla="val 50000"/>
            </a:avLst>
          </a:prstGeom>
          <a:solidFill>
            <a:srgbClr val="26C7B8"/>
          </a:solidFill>
          <a:ln w="10160">
            <a:solidFill>
              <a:srgbClr val="26C7B8">
                <a:alpha val="0"/>
              </a:srgbClr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464808" y="4073652"/>
            <a:ext cx="832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17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7571232" y="4005072"/>
            <a:ext cx="29535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7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根据本机条件决定“具体用哪个算法做”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941832" y="5376672"/>
            <a:ext cx="10314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延迟绑定：任务编写时不锁死具体节点和具体算法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743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kern="0" spc="220" dirty="0">
                <a:solidFill>
                  <a:srgbClr val="117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/ RELIABLE EXECUTION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548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任务运行保障：执行如何可恢复、可追溯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051560"/>
            <a:ext cx="685800" cy="50292"/>
          </a:xfrm>
          <a:prstGeom prst="rect">
            <a:avLst/>
          </a:prstGeom>
          <a:solidFill>
            <a:srgbClr val="19B8E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064240" y="393192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8FA0B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6528816"/>
            <a:ext cx="11000232" cy="0"/>
          </a:xfrm>
          <a:prstGeom prst="line">
            <a:avLst/>
          </a:prstGeom>
          <a:noFill/>
          <a:ln w="8890">
            <a:solidFill>
              <a:srgbClr val="DDE6EE"/>
            </a:solidFill>
            <a:prstDash val="solid"/>
            <a:tailEnd type="none"/>
          </a:ln>
        </p:spPr>
      </p:sp>
      <p:sp>
        <p:nvSpPr>
          <p:cNvPr id="7" name="Text 5"/>
          <p:cNvSpPr txBox="1"/>
          <p:nvPr/>
        </p:nvSpPr>
        <p:spPr>
          <a:xfrm>
            <a:off x="594360" y="65653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8FA0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北京邮电大学｜Chain2Web 项目组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8732520" y="656539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8FA0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所有图形均应保持可编辑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9857232" y="923544"/>
            <a:ext cx="1719072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0160">
            <a:solidFill>
              <a:srgbClr val="064A9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857232" y="928116"/>
            <a:ext cx="1719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4A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正常＋异常分支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40664" y="2075688"/>
            <a:ext cx="493776" cy="493776"/>
          </a:xfrm>
          <a:prstGeom prst="ellipse">
            <a:avLst/>
          </a:prstGeom>
          <a:solidFill>
            <a:srgbClr val="1176D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86384" y="2212848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" y="2788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任务下发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29184" y="3108960"/>
            <a:ext cx="13167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 ID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252728" y="2322576"/>
            <a:ext cx="1389888" cy="0"/>
          </a:xfrm>
          <a:prstGeom prst="line">
            <a:avLst/>
          </a:prstGeom>
          <a:noFill/>
          <a:ln w="19050">
            <a:solidFill>
              <a:srgbClr val="7FA8B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660904" y="2075688"/>
            <a:ext cx="493776" cy="493776"/>
          </a:xfrm>
          <a:prstGeom prst="ellipse">
            <a:avLst/>
          </a:prstGeom>
          <a:solidFill>
            <a:srgbClr val="7679F5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706624" y="2212848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2359152" y="2788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取得租约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2249424" y="3108960"/>
            <a:ext cx="13167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防止重复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172968" y="2322576"/>
            <a:ext cx="1389888" cy="0"/>
          </a:xfrm>
          <a:prstGeom prst="line">
            <a:avLst/>
          </a:prstGeom>
          <a:noFill/>
          <a:ln w="19050">
            <a:solidFill>
              <a:srgbClr val="7FA8B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581144" y="2075688"/>
            <a:ext cx="493776" cy="493776"/>
          </a:xfrm>
          <a:prstGeom prst="ellipse">
            <a:avLst/>
          </a:prstGeom>
          <a:solidFill>
            <a:srgbClr val="19B8E6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626864" y="2212848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279392" y="2788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Agent执行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169664" y="3108960"/>
            <a:ext cx="13167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记录版本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93208" y="2322576"/>
            <a:ext cx="1389888" cy="0"/>
          </a:xfrm>
          <a:prstGeom prst="line">
            <a:avLst/>
          </a:prstGeom>
          <a:noFill/>
          <a:ln w="19050">
            <a:solidFill>
              <a:srgbClr val="7FA8B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501384" y="2075688"/>
            <a:ext cx="493776" cy="493776"/>
          </a:xfrm>
          <a:prstGeom prst="ellipse">
            <a:avLst/>
          </a:prstGeom>
          <a:solidFill>
            <a:srgbClr val="26C7B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47104" y="2212848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6199632" y="2788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保存检查点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089904" y="3108960"/>
            <a:ext cx="13167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中间状态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013448" y="2322576"/>
            <a:ext cx="1389888" cy="0"/>
          </a:xfrm>
          <a:prstGeom prst="line">
            <a:avLst/>
          </a:prstGeom>
          <a:noFill/>
          <a:ln w="19050">
            <a:solidFill>
              <a:srgbClr val="7FA8B8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421624" y="2075688"/>
            <a:ext cx="493776" cy="493776"/>
          </a:xfrm>
          <a:prstGeom prst="ellipse">
            <a:avLst/>
          </a:prstGeom>
          <a:solidFill>
            <a:srgbClr val="37B87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467344" y="2212848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8119872" y="2788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返回结果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8010144" y="3108960"/>
            <a:ext cx="13167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Result ID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933688" y="2322576"/>
            <a:ext cx="1389888" cy="0"/>
          </a:xfrm>
          <a:prstGeom prst="line">
            <a:avLst/>
          </a:prstGeom>
          <a:noFill/>
          <a:ln w="19050">
            <a:solidFill>
              <a:srgbClr val="7FA8B8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341864" y="2075688"/>
            <a:ext cx="493776" cy="493776"/>
          </a:xfrm>
          <a:prstGeom prst="ellipse">
            <a:avLst/>
          </a:prstGeom>
          <a:solidFill>
            <a:srgbClr val="064A9B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387584" y="2212848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6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0040112" y="2788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完整轨迹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9930384" y="3108960"/>
            <a:ext cx="13167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可回放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828032" y="2596896"/>
            <a:ext cx="0" cy="1426464"/>
          </a:xfrm>
          <a:prstGeom prst="line">
            <a:avLst/>
          </a:prstGeom>
          <a:noFill/>
          <a:ln w="17780">
            <a:solidFill>
              <a:srgbClr val="E95D67"/>
            </a:solidFill>
            <a:prstDash val="dash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2770632" y="4078224"/>
            <a:ext cx="6099048" cy="1051560"/>
          </a:xfrm>
          <a:prstGeom prst="roundRect">
            <a:avLst>
              <a:gd name="adj" fmla="val 6957"/>
            </a:avLst>
          </a:prstGeom>
          <a:solidFill>
            <a:srgbClr val="FFF2F2"/>
          </a:solidFill>
          <a:ln w="10160">
            <a:solidFill>
              <a:srgbClr val="F3C2C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017520" y="434340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95D67"/>
          </a:solidFill>
          <a:ln w="10160">
            <a:solidFill>
              <a:srgbClr val="E95D67">
                <a:alpha val="0"/>
              </a:srgbClr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017520" y="4347972"/>
            <a:ext cx="868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异常分支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4160520" y="429768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95D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心跳中断 / 执行超时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5779008" y="4462272"/>
            <a:ext cx="475488" cy="0"/>
          </a:xfrm>
          <a:prstGeom prst="line">
            <a:avLst/>
          </a:prstGeom>
          <a:noFill/>
          <a:ln w="15240">
            <a:solidFill>
              <a:srgbClr val="D58A8E"/>
            </a:solidFill>
            <a:prstDash val="solid"/>
            <a:tailEnd type="triangle"/>
          </a:ln>
        </p:spPr>
      </p:sp>
      <p:sp>
        <p:nvSpPr>
          <p:cNvPr id="46" name="Text 44"/>
          <p:cNvSpPr txBox="1"/>
          <p:nvPr/>
        </p:nvSpPr>
        <p:spPr>
          <a:xfrm>
            <a:off x="6391656" y="429768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释放租约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7315200" y="4462272"/>
            <a:ext cx="402336" cy="0"/>
          </a:xfrm>
          <a:prstGeom prst="line">
            <a:avLst/>
          </a:prstGeom>
          <a:noFill/>
          <a:ln w="15240">
            <a:solidFill>
              <a:srgbClr val="D58A8E"/>
            </a:solidFill>
            <a:prstDash val="solid"/>
            <a:tailEnd type="triangle"/>
          </a:ln>
        </p:spPr>
      </p:sp>
      <p:sp>
        <p:nvSpPr>
          <p:cNvPr id="48" name="Text 46"/>
          <p:cNvSpPr txBox="1"/>
          <p:nvPr/>
        </p:nvSpPr>
        <p:spPr>
          <a:xfrm>
            <a:off x="7836408" y="42976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从检查点重匹配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3273552" y="551383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0160">
            <a:solidFill>
              <a:srgbClr val="1176D4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273552" y="5518404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7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心跳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462272" y="551383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0160">
            <a:solidFill>
              <a:srgbClr val="7679F5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4462272" y="5518404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679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租约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650992" y="551383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0160">
            <a:solidFill>
              <a:srgbClr val="19B8E6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5650992" y="5518404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9B8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幂等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839712" y="551383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0160">
            <a:solidFill>
              <a:srgbClr val="26C7B8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839712" y="5518404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6C7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检查点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8028432" y="551383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0160">
            <a:solidFill>
              <a:srgbClr val="064A9B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8028432" y="5518404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4A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执行记录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743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kern="0" spc="220" dirty="0">
                <a:solidFill>
                  <a:srgbClr val="117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ALGORITHM / KNOWLEDGE GRAPH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548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概率知识图谱增强的可信检索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051560"/>
            <a:ext cx="685800" cy="50292"/>
          </a:xfrm>
          <a:prstGeom prst="rect">
            <a:avLst/>
          </a:prstGeom>
          <a:solidFill>
            <a:srgbClr val="19B8E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064240" y="393192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8FA0B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6528816"/>
            <a:ext cx="11000232" cy="0"/>
          </a:xfrm>
          <a:prstGeom prst="line">
            <a:avLst/>
          </a:prstGeom>
          <a:noFill/>
          <a:ln w="8890">
            <a:solidFill>
              <a:srgbClr val="DDE6EE"/>
            </a:solidFill>
            <a:prstDash val="solid"/>
            <a:tailEnd type="none"/>
          </a:ln>
        </p:spPr>
      </p:sp>
      <p:sp>
        <p:nvSpPr>
          <p:cNvPr id="7" name="Text 5"/>
          <p:cNvSpPr txBox="1"/>
          <p:nvPr/>
        </p:nvSpPr>
        <p:spPr>
          <a:xfrm>
            <a:off x="594360" y="65653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8FA0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北京邮电大学｜Chain2Web 项目组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8732520" y="656539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8FA0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所有图形均应保持可编辑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9857232" y="923544"/>
            <a:ext cx="1719072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0160">
            <a:solidFill>
              <a:srgbClr val="064A9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857232" y="928116"/>
            <a:ext cx="1719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4A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机制说明页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13232" y="1408176"/>
            <a:ext cx="256032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0160">
            <a:solidFill>
              <a:srgbClr val="D7E1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8972" y="1604772"/>
            <a:ext cx="137160" cy="137160"/>
          </a:xfrm>
          <a:prstGeom prst="ellipse">
            <a:avLst/>
          </a:prstGeom>
          <a:solidFill>
            <a:srgbClr val="1176D4"/>
          </a:solidFill>
          <a:ln w="12700">
            <a:solidFill>
              <a:srgbClr val="1176D4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79576" y="149961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实体共现先验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310128" y="1673352"/>
            <a:ext cx="1005840" cy="1143000"/>
          </a:xfrm>
          <a:prstGeom prst="line">
            <a:avLst/>
          </a:prstGeom>
          <a:noFill/>
          <a:ln w="12700">
            <a:solidFill>
              <a:srgbClr val="92B6C5"/>
            </a:solidFill>
            <a:prstDash val="dash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13232" y="2176272"/>
            <a:ext cx="256032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0160">
            <a:solidFill>
              <a:srgbClr val="D7E1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8972" y="2372868"/>
            <a:ext cx="137160" cy="137160"/>
          </a:xfrm>
          <a:prstGeom prst="ellipse">
            <a:avLst/>
          </a:prstGeom>
          <a:solidFill>
            <a:srgbClr val="7679F5"/>
          </a:solidFill>
          <a:ln w="12700">
            <a:solidFill>
              <a:srgbClr val="7679F5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79576" y="22677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信息稀有度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310128" y="2441448"/>
            <a:ext cx="1005840" cy="374904"/>
          </a:xfrm>
          <a:prstGeom prst="line">
            <a:avLst/>
          </a:prstGeom>
          <a:noFill/>
          <a:ln w="12700">
            <a:solidFill>
              <a:srgbClr val="92B6C5"/>
            </a:solidFill>
            <a:prstDash val="dash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13232" y="2944368"/>
            <a:ext cx="256032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0160">
            <a:solidFill>
              <a:srgbClr val="D7E1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8972" y="3140964"/>
            <a:ext cx="137160" cy="137160"/>
          </a:xfrm>
          <a:prstGeom prst="ellipse">
            <a:avLst/>
          </a:prstGeom>
          <a:solidFill>
            <a:srgbClr val="26C7B8"/>
          </a:solidFill>
          <a:ln w="12700">
            <a:solidFill>
              <a:srgbClr val="26C7B8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179576" y="30358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图结构多路径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310128" y="3209544"/>
            <a:ext cx="1005840" cy="0"/>
          </a:xfrm>
          <a:prstGeom prst="line">
            <a:avLst/>
          </a:prstGeom>
          <a:noFill/>
          <a:ln w="12700">
            <a:solidFill>
              <a:srgbClr val="92B6C5"/>
            </a:solidFill>
            <a:prstDash val="dash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13232" y="3712464"/>
            <a:ext cx="256032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0160">
            <a:solidFill>
              <a:srgbClr val="D7E1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8972" y="3909060"/>
            <a:ext cx="137160" cy="137160"/>
          </a:xfrm>
          <a:prstGeom prst="ellipse">
            <a:avLst/>
          </a:prstGeom>
          <a:solidFill>
            <a:srgbClr val="19B8E6"/>
          </a:solidFill>
          <a:ln w="12700">
            <a:solidFill>
              <a:srgbClr val="19B8E6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179576" y="380390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语义一致性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3310128" y="3977640"/>
            <a:ext cx="1005840" cy="0"/>
          </a:xfrm>
          <a:prstGeom prst="line">
            <a:avLst/>
          </a:prstGeom>
          <a:noFill/>
          <a:ln w="12700">
            <a:solidFill>
              <a:srgbClr val="92B6C5"/>
            </a:solidFill>
            <a:prstDash val="dash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270248" y="2020824"/>
            <a:ext cx="2167128" cy="1591056"/>
          </a:xfrm>
          <a:prstGeom prst="roundRect">
            <a:avLst>
              <a:gd name="adj" fmla="val 5747"/>
            </a:avLst>
          </a:prstGeom>
          <a:solidFill>
            <a:srgbClr val="071725"/>
          </a:solidFill>
          <a:ln w="10160">
            <a:solidFill>
              <a:srgbClr val="071725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99432" y="2404872"/>
            <a:ext cx="1517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多证据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置信加权</a:t>
            </a:r>
            <a:endParaRPr lang="en-US" sz="1900" dirty="0"/>
          </a:p>
        </p:txBody>
      </p:sp>
      <p:sp>
        <p:nvSpPr>
          <p:cNvPr id="29" name="Shape 27"/>
          <p:cNvSpPr/>
          <p:nvPr/>
        </p:nvSpPr>
        <p:spPr>
          <a:xfrm>
            <a:off x="6455664" y="2816352"/>
            <a:ext cx="905256" cy="0"/>
          </a:xfrm>
          <a:prstGeom prst="line">
            <a:avLst/>
          </a:prstGeom>
          <a:noFill/>
          <a:ln w="22860">
            <a:solidFill>
              <a:srgbClr val="19B8E6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406640" y="1399032"/>
            <a:ext cx="4023360" cy="2834640"/>
          </a:xfrm>
          <a:prstGeom prst="roundRect">
            <a:avLst>
              <a:gd name="adj" fmla="val 3226"/>
            </a:avLst>
          </a:prstGeom>
          <a:solidFill>
            <a:srgbClr val="EBF8FC"/>
          </a:solidFill>
          <a:ln w="10160">
            <a:solidFill>
              <a:srgbClr val="BFE5E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717536" y="1691640"/>
            <a:ext cx="3364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64A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PPR图检索与证据传播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8001000" y="2743200"/>
            <a:ext cx="795528" cy="0"/>
          </a:xfrm>
          <a:prstGeom prst="line">
            <a:avLst/>
          </a:prstGeom>
          <a:noFill/>
          <a:ln w="13970">
            <a:solidFill>
              <a:srgbClr val="5FB4CA"/>
            </a:solidFill>
            <a:prstDash val="solid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8001000" y="2743200"/>
            <a:ext cx="1463040" cy="365760"/>
          </a:xfrm>
          <a:prstGeom prst="line">
            <a:avLst/>
          </a:prstGeom>
          <a:noFill/>
          <a:ln w="13970">
            <a:solidFill>
              <a:srgbClr val="5FB4CA"/>
            </a:solidFill>
            <a:prstDash val="solid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8001000" y="2743200"/>
            <a:ext cx="429768" cy="932688"/>
          </a:xfrm>
          <a:prstGeom prst="line">
            <a:avLst/>
          </a:prstGeom>
          <a:noFill/>
          <a:ln w="13970">
            <a:solidFill>
              <a:srgbClr val="5FB4CA"/>
            </a:solidFill>
            <a:prstDash val="solid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8796528" y="2395728"/>
            <a:ext cx="667512" cy="713232"/>
          </a:xfrm>
          <a:prstGeom prst="line">
            <a:avLst/>
          </a:prstGeom>
          <a:noFill/>
          <a:ln w="13970">
            <a:solidFill>
              <a:srgbClr val="5FB4CA"/>
            </a:solidFill>
            <a:prstDash val="solid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8796528" y="2395728"/>
            <a:ext cx="1426464" cy="146304"/>
          </a:xfrm>
          <a:prstGeom prst="line">
            <a:avLst/>
          </a:prstGeom>
          <a:noFill/>
          <a:ln w="13970">
            <a:solidFill>
              <a:srgbClr val="5FB4CA"/>
            </a:solidFill>
            <a:prstDash val="solid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9464040" y="3108960"/>
            <a:ext cx="758952" cy="0"/>
          </a:xfrm>
          <a:prstGeom prst="line">
            <a:avLst/>
          </a:prstGeom>
          <a:noFill/>
          <a:ln w="13970">
            <a:solidFill>
              <a:srgbClr val="5FB4CA"/>
            </a:solidFill>
            <a:prstDash val="solid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9464040" y="3108960"/>
            <a:ext cx="0" cy="566928"/>
          </a:xfrm>
          <a:prstGeom prst="line">
            <a:avLst/>
          </a:prstGeom>
          <a:noFill/>
          <a:ln w="13970">
            <a:solidFill>
              <a:srgbClr val="5FB4CA"/>
            </a:solidFill>
            <a:prstDash val="solid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10222992" y="2542032"/>
            <a:ext cx="621792" cy="731520"/>
          </a:xfrm>
          <a:prstGeom prst="line">
            <a:avLst/>
          </a:prstGeom>
          <a:noFill/>
          <a:ln w="13970">
            <a:solidFill>
              <a:srgbClr val="5FB4CA"/>
            </a:solidFill>
            <a:prstDash val="solid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10844784" y="3273552"/>
            <a:ext cx="0" cy="402336"/>
          </a:xfrm>
          <a:prstGeom prst="line">
            <a:avLst/>
          </a:prstGeom>
          <a:noFill/>
          <a:ln w="13970">
            <a:solidFill>
              <a:srgbClr val="5FB4CA"/>
            </a:solidFill>
            <a:prstDash val="solid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7900416" y="2642616"/>
            <a:ext cx="201168" cy="201168"/>
          </a:xfrm>
          <a:prstGeom prst="ellipse">
            <a:avLst/>
          </a:prstGeom>
          <a:solidFill>
            <a:srgbClr val="1176D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695944" y="2295144"/>
            <a:ext cx="201168" cy="201168"/>
          </a:xfrm>
          <a:prstGeom prst="ellipse">
            <a:avLst/>
          </a:prstGeom>
          <a:solidFill>
            <a:srgbClr val="26C7B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290304" y="2935224"/>
            <a:ext cx="347472" cy="347472"/>
          </a:xfrm>
          <a:prstGeom prst="ellipse">
            <a:avLst/>
          </a:prstGeom>
          <a:solidFill>
            <a:srgbClr val="19B8E6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122408" y="2441448"/>
            <a:ext cx="201168" cy="201168"/>
          </a:xfrm>
          <a:prstGeom prst="ellipse">
            <a:avLst/>
          </a:prstGeom>
          <a:solidFill>
            <a:srgbClr val="7679F5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744200" y="3172968"/>
            <a:ext cx="201168" cy="201168"/>
          </a:xfrm>
          <a:prstGeom prst="ellipse">
            <a:avLst/>
          </a:prstGeom>
          <a:solidFill>
            <a:srgbClr val="1176D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330184" y="3575304"/>
            <a:ext cx="201168" cy="201168"/>
          </a:xfrm>
          <a:prstGeom prst="ellipse">
            <a:avLst/>
          </a:prstGeom>
          <a:solidFill>
            <a:srgbClr val="26C7B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13232" y="4681728"/>
            <a:ext cx="10716768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0160">
            <a:solidFill>
              <a:srgbClr val="D7E1E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87552" y="492861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传统RAG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1993392" y="492861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文本相似度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273552" y="5056632"/>
            <a:ext cx="612648" cy="0"/>
          </a:xfrm>
          <a:prstGeom prst="line">
            <a:avLst/>
          </a:prstGeom>
          <a:noFill/>
          <a:ln w="15240">
            <a:solidFill>
              <a:srgbClr val="9CB1BE"/>
            </a:solidFill>
            <a:prstDash val="solid"/>
            <a:tailEnd type="triangle"/>
          </a:ln>
        </p:spPr>
      </p:sp>
      <p:sp>
        <p:nvSpPr>
          <p:cNvPr id="51" name="Text 49"/>
          <p:cNvSpPr txBox="1"/>
          <p:nvPr/>
        </p:nvSpPr>
        <p:spPr>
          <a:xfrm>
            <a:off x="4050792" y="492861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64A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本系统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4937760" y="492861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关系置信＋图结构检索＋证据路径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8458200" y="4864608"/>
            <a:ext cx="2359152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0160">
            <a:solidFill>
              <a:srgbClr val="F59E57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8458200" y="4869180"/>
            <a:ext cx="2359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避免表述为“严格后验概率”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743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kern="0" spc="220" dirty="0">
                <a:solidFill>
                  <a:srgbClr val="117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 / EVIDENCE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548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系统验证：用真实界面证明运行闭环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051560"/>
            <a:ext cx="685800" cy="50292"/>
          </a:xfrm>
          <a:prstGeom prst="rect">
            <a:avLst/>
          </a:prstGeom>
          <a:solidFill>
            <a:srgbClr val="19B8E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064240" y="393192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8FA0B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6528816"/>
            <a:ext cx="11000232" cy="0"/>
          </a:xfrm>
          <a:prstGeom prst="line">
            <a:avLst/>
          </a:prstGeom>
          <a:noFill/>
          <a:ln w="8890">
            <a:solidFill>
              <a:srgbClr val="DDE6EE"/>
            </a:solidFill>
            <a:prstDash val="solid"/>
            <a:tailEnd type="none"/>
          </a:ln>
        </p:spPr>
      </p:sp>
      <p:sp>
        <p:nvSpPr>
          <p:cNvPr id="7" name="Text 5"/>
          <p:cNvSpPr txBox="1"/>
          <p:nvPr/>
        </p:nvSpPr>
        <p:spPr>
          <a:xfrm>
            <a:off x="594360" y="65653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8FA0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北京邮电大学｜Chain2Web 项目组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8732520" y="656539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8FA0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所有图形均应保持可编辑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9857232" y="923544"/>
            <a:ext cx="1719072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0160">
            <a:solidFill>
              <a:srgbClr val="064A9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857232" y="928116"/>
            <a:ext cx="1719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4A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截图证据页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58368" y="1371600"/>
            <a:ext cx="7626096" cy="4535424"/>
          </a:xfrm>
          <a:prstGeom prst="roundRect">
            <a:avLst>
              <a:gd name="adj" fmla="val 1613"/>
            </a:avLst>
          </a:prstGeom>
          <a:solidFill>
            <a:srgbClr val="071725"/>
          </a:solidFill>
          <a:ln w="10160">
            <a:solidFill>
              <a:srgbClr val="071725">
                <a:alpha val="0"/>
              </a:srgbClr>
            </a:solidFill>
            <a:prstDash val="solid"/>
          </a:ln>
        </p:spPr>
      </p:sp>
      <p:pic>
        <p:nvPicPr>
          <p:cNvPr id="12" name="Image 0" descr="/home/wangyu/a2a/doc/PPT模板_assets/AMOS界面_封面背景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536192"/>
            <a:ext cx="7360920" cy="4142232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96112" y="1664208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19B8E6"/>
          </a:solidFill>
          <a:ln w="10160">
            <a:solidFill>
              <a:srgbClr val="19B8E6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96112" y="1668780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17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真实系统截图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670048" y="3090672"/>
            <a:ext cx="329184" cy="329184"/>
          </a:xfrm>
          <a:prstGeom prst="ellipse">
            <a:avLst/>
          </a:prstGeom>
          <a:solidFill>
            <a:srgbClr val="19B8E6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715768" y="3145536"/>
            <a:ext cx="2377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190488" y="1920240"/>
            <a:ext cx="329184" cy="329184"/>
          </a:xfrm>
          <a:prstGeom prst="ellipse">
            <a:avLst/>
          </a:prstGeom>
          <a:solidFill>
            <a:srgbClr val="26C7B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36208" y="1975104"/>
            <a:ext cx="2377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711696" y="4736592"/>
            <a:ext cx="329184" cy="329184"/>
          </a:xfrm>
          <a:prstGeom prst="ellipse">
            <a:avLst/>
          </a:prstGeom>
          <a:solidFill>
            <a:srgbClr val="F59E57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757416" y="4791456"/>
            <a:ext cx="2377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8558784" y="1481328"/>
            <a:ext cx="2907792" cy="1069848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 w="10160">
            <a:solidFill>
              <a:srgbClr val="D7E1E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796528" y="1664208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9B8E6"/>
          </a:solidFill>
          <a:ln w="10160">
            <a:solidFill>
              <a:srgbClr val="19B8E6">
                <a:alpha val="0"/>
              </a:srgbClr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796528" y="1668780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9418320" y="1609344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输入与环境</a:t>
            </a:r>
            <a:endParaRPr lang="en-US" sz="1350" dirty="0"/>
          </a:p>
        </p:txBody>
      </p:sp>
      <p:sp>
        <p:nvSpPr>
          <p:cNvPr id="25" name="Text 22"/>
          <p:cNvSpPr txBox="1"/>
          <p:nvPr/>
        </p:nvSpPr>
        <p:spPr>
          <a:xfrm>
            <a:off x="8796528" y="2011680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说明输入来自哪里、当前状态是什么</a:t>
            </a:r>
            <a:endParaRPr lang="en-US" sz="980" dirty="0"/>
          </a:p>
        </p:txBody>
      </p:sp>
      <p:sp>
        <p:nvSpPr>
          <p:cNvPr id="26" name="Shape 23"/>
          <p:cNvSpPr/>
          <p:nvPr/>
        </p:nvSpPr>
        <p:spPr>
          <a:xfrm>
            <a:off x="8558784" y="2825496"/>
            <a:ext cx="2907792" cy="1069848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 w="10160">
            <a:solidFill>
              <a:srgbClr val="D7E1E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796528" y="3008376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26C7B8"/>
          </a:solidFill>
          <a:ln w="10160">
            <a:solidFill>
              <a:srgbClr val="26C7B8">
                <a:alpha val="0"/>
              </a:srgbClr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3012948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9418320" y="2953512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能力匹配</a:t>
            </a:r>
            <a:endParaRPr lang="en-US" sz="1350" dirty="0"/>
          </a:p>
        </p:txBody>
      </p:sp>
      <p:sp>
        <p:nvSpPr>
          <p:cNvPr id="30" name="Text 27"/>
          <p:cNvSpPr txBox="1"/>
          <p:nvPr/>
        </p:nvSpPr>
        <p:spPr>
          <a:xfrm>
            <a:off x="8796528" y="3355848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说明哪些Agent与算法参与执行</a:t>
            </a:r>
            <a:endParaRPr lang="en-US" sz="980" dirty="0"/>
          </a:p>
        </p:txBody>
      </p:sp>
      <p:sp>
        <p:nvSpPr>
          <p:cNvPr id="31" name="Shape 28"/>
          <p:cNvSpPr/>
          <p:nvPr/>
        </p:nvSpPr>
        <p:spPr>
          <a:xfrm>
            <a:off x="8558784" y="4169664"/>
            <a:ext cx="2907792" cy="1069848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 w="10160">
            <a:solidFill>
              <a:srgbClr val="D7E1E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796528" y="4352544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F59E57"/>
          </a:solidFill>
          <a:ln w="10160">
            <a:solidFill>
              <a:srgbClr val="F59E57">
                <a:alpha val="0"/>
              </a:srgbClr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796528" y="4357116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50" dirty="0"/>
          </a:p>
        </p:txBody>
      </p:sp>
      <p:sp>
        <p:nvSpPr>
          <p:cNvPr id="34" name="Text 31"/>
          <p:cNvSpPr txBox="1"/>
          <p:nvPr/>
        </p:nvSpPr>
        <p:spPr>
          <a:xfrm>
            <a:off x="9418320" y="429768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结果证据</a:t>
            </a:r>
            <a:endParaRPr lang="en-US" sz="1350" dirty="0"/>
          </a:p>
        </p:txBody>
      </p:sp>
      <p:sp>
        <p:nvSpPr>
          <p:cNvPr id="35" name="Text 32"/>
          <p:cNvSpPr txBox="1"/>
          <p:nvPr/>
        </p:nvSpPr>
        <p:spPr>
          <a:xfrm>
            <a:off x="8796528" y="4700016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说明结果、记录和可追踪信息</a:t>
            </a:r>
            <a:endParaRPr lang="en-US" sz="980" dirty="0"/>
          </a:p>
        </p:txBody>
      </p:sp>
      <p:sp>
        <p:nvSpPr>
          <p:cNvPr id="36" name="Text 33"/>
          <p:cNvSpPr txBox="1"/>
          <p:nvPr/>
        </p:nvSpPr>
        <p:spPr>
          <a:xfrm>
            <a:off x="8622792" y="55046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4A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截图只负责“证明”，机制解释仍使用可编辑图形。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743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kern="0" spc="220" dirty="0">
                <a:solidFill>
                  <a:srgbClr val="117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APPLICATION / WHERE IT FITS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548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可迁移应用方向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051560"/>
            <a:ext cx="685800" cy="50292"/>
          </a:xfrm>
          <a:prstGeom prst="rect">
            <a:avLst/>
          </a:prstGeom>
          <a:solidFill>
            <a:srgbClr val="19B8E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064240" y="393192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8FA0B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6528816"/>
            <a:ext cx="11000232" cy="0"/>
          </a:xfrm>
          <a:prstGeom prst="line">
            <a:avLst/>
          </a:prstGeom>
          <a:noFill/>
          <a:ln w="8890">
            <a:solidFill>
              <a:srgbClr val="DDE6EE"/>
            </a:solidFill>
            <a:prstDash val="solid"/>
            <a:tailEnd type="none"/>
          </a:ln>
        </p:spPr>
      </p:sp>
      <p:sp>
        <p:nvSpPr>
          <p:cNvPr id="7" name="Text 5"/>
          <p:cNvSpPr txBox="1"/>
          <p:nvPr/>
        </p:nvSpPr>
        <p:spPr>
          <a:xfrm>
            <a:off x="594360" y="65653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8FA0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北京邮电大学｜Chain2Web 项目组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8732520" y="656539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8FA0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所有图形均应保持可编辑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9857232" y="923544"/>
            <a:ext cx="1719072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0160">
            <a:solidFill>
              <a:srgbClr val="064A9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857232" y="928116"/>
            <a:ext cx="1719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4A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场景路径页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58368" y="1417320"/>
            <a:ext cx="3401568" cy="4261104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10160">
            <a:solidFill>
              <a:srgbClr val="D7E1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6968" y="1627632"/>
            <a:ext cx="402336" cy="402336"/>
          </a:xfrm>
          <a:prstGeom prst="ellipse">
            <a:avLst/>
          </a:prstGeom>
          <a:solidFill>
            <a:srgbClr val="1176D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32688" y="1700784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435608" y="1609344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算法集成与验证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960120" y="2359152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0160">
            <a:solidFill>
              <a:srgbClr val="1176D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0120" y="2363724"/>
            <a:ext cx="786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7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目标用户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1901952" y="235000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高校 / 研究院 / 集成单位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60120" y="2779776"/>
            <a:ext cx="2770632" cy="0"/>
          </a:xfrm>
          <a:prstGeom prst="line">
            <a:avLst/>
          </a:prstGeom>
          <a:noFill/>
          <a:ln w="8890">
            <a:solidFill>
              <a:srgbClr val="D7E1EA"/>
            </a:solidFill>
            <a:prstDash val="solid"/>
            <a:tailEnd type="none"/>
          </a:ln>
        </p:spPr>
      </p:sp>
      <p:sp>
        <p:nvSpPr>
          <p:cNvPr id="19" name="Text 17"/>
          <p:cNvSpPr txBox="1"/>
          <p:nvPr/>
        </p:nvSpPr>
        <p:spPr>
          <a:xfrm>
            <a:off x="960120" y="2999232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64A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怎么应用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3346704"/>
            <a:ext cx="276148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异构算法统一封装、比较与追踪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960120" y="4279392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64A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对应能力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60120" y="4617720"/>
            <a:ext cx="2761488" cy="566928"/>
          </a:xfrm>
          <a:prstGeom prst="roundRect">
            <a:avLst>
              <a:gd name="adj" fmla="val 9677"/>
            </a:avLst>
          </a:prstGeom>
          <a:solidFill>
            <a:srgbClr val="F2F7FA"/>
          </a:solidFill>
          <a:ln w="10160">
            <a:solidFill>
              <a:srgbClr val="E3EBF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97280" y="4745736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算法资产管理＋统一运行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425696" y="1417320"/>
            <a:ext cx="3401568" cy="4261104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10160">
            <a:solidFill>
              <a:srgbClr val="D7E1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54296" y="1627632"/>
            <a:ext cx="402336" cy="402336"/>
          </a:xfrm>
          <a:prstGeom prst="ellipse">
            <a:avLst/>
          </a:prstGeom>
          <a:solidFill>
            <a:srgbClr val="26C7B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700016" y="1700784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5202936" y="1609344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异构边缘节点协同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4727448" y="2359152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0160">
            <a:solidFill>
              <a:srgbClr val="26C7B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727448" y="2363724"/>
            <a:ext cx="786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6C7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目标用户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5669280" y="235000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工业巡检 / 多路分析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27448" y="2779776"/>
            <a:ext cx="2770632" cy="0"/>
          </a:xfrm>
          <a:prstGeom prst="line">
            <a:avLst/>
          </a:prstGeom>
          <a:noFill/>
          <a:ln w="8890">
            <a:solidFill>
              <a:srgbClr val="D7E1EA"/>
            </a:solidFill>
            <a:prstDash val="solid"/>
            <a:tailEnd type="none"/>
          </a:ln>
        </p:spPr>
      </p:sp>
      <p:sp>
        <p:nvSpPr>
          <p:cNvPr id="32" name="Text 30"/>
          <p:cNvSpPr txBox="1"/>
          <p:nvPr/>
        </p:nvSpPr>
        <p:spPr>
          <a:xfrm>
            <a:off x="4727448" y="2999232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64A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怎么应用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727448" y="3346704"/>
            <a:ext cx="276148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按节点资源选择模型并处理节点变化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4727448" y="4279392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64A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对应能力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27448" y="4617720"/>
            <a:ext cx="2761488" cy="566928"/>
          </a:xfrm>
          <a:prstGeom prst="roundRect">
            <a:avLst>
              <a:gd name="adj" fmla="val 9677"/>
            </a:avLst>
          </a:prstGeom>
          <a:solidFill>
            <a:srgbClr val="F2F7FA"/>
          </a:solidFill>
          <a:ln w="10160">
            <a:solidFill>
              <a:srgbClr val="E3EBF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864608" y="4745736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资源画像＋运行时匹配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193024" y="1417320"/>
            <a:ext cx="3401568" cy="4261104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10160">
            <a:solidFill>
              <a:srgbClr val="D7E1E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21624" y="1627632"/>
            <a:ext cx="402336" cy="402336"/>
          </a:xfrm>
          <a:prstGeom prst="ellipse">
            <a:avLst/>
          </a:prstGeom>
          <a:solidFill>
            <a:srgbClr val="7679F5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467344" y="1700784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8970264" y="1609344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复杂流程仿真验证</a:t>
            </a:r>
            <a:endParaRPr lang="en-US" sz="1700" dirty="0"/>
          </a:p>
        </p:txBody>
      </p:sp>
      <p:sp>
        <p:nvSpPr>
          <p:cNvPr id="41" name="Shape 39"/>
          <p:cNvSpPr/>
          <p:nvPr/>
        </p:nvSpPr>
        <p:spPr>
          <a:xfrm>
            <a:off x="8494776" y="2359152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0160">
            <a:solidFill>
              <a:srgbClr val="7679F5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494776" y="2363724"/>
            <a:ext cx="786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679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目标用户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9436608" y="235000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流程设计与方案评估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494776" y="2779776"/>
            <a:ext cx="2770632" cy="0"/>
          </a:xfrm>
          <a:prstGeom prst="line">
            <a:avLst/>
          </a:prstGeom>
          <a:noFill/>
          <a:ln w="8890">
            <a:solidFill>
              <a:srgbClr val="D7E1EA"/>
            </a:solidFill>
            <a:prstDash val="solid"/>
            <a:tailEnd type="none"/>
          </a:ln>
        </p:spPr>
      </p:sp>
      <p:sp>
        <p:nvSpPr>
          <p:cNvPr id="45" name="Text 43"/>
          <p:cNvSpPr txBox="1"/>
          <p:nvPr/>
        </p:nvSpPr>
        <p:spPr>
          <a:xfrm>
            <a:off x="8494776" y="2999232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64A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怎么应用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8494776" y="3346704"/>
            <a:ext cx="276148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配置环境、执行流程并回放证据</a:t>
            </a:r>
            <a:endParaRPr lang="en-US" sz="1250" dirty="0"/>
          </a:p>
        </p:txBody>
      </p:sp>
      <p:sp>
        <p:nvSpPr>
          <p:cNvPr id="47" name="Text 45"/>
          <p:cNvSpPr txBox="1"/>
          <p:nvPr/>
        </p:nvSpPr>
        <p:spPr>
          <a:xfrm>
            <a:off x="8494776" y="4279392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64A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对应能力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494776" y="4617720"/>
            <a:ext cx="2761488" cy="566928"/>
          </a:xfrm>
          <a:prstGeom prst="roundRect">
            <a:avLst>
              <a:gd name="adj" fmla="val 9677"/>
            </a:avLst>
          </a:prstGeom>
          <a:solidFill>
            <a:srgbClr val="F2F7FA"/>
          </a:solidFill>
          <a:ln w="10160">
            <a:solidFill>
              <a:srgbClr val="E3EBF1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631936" y="4745736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任务编排＋仿真验证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612648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19B8E6"/>
          </a:solidFill>
          <a:ln w="10160">
            <a:solidFill>
              <a:srgbClr val="19B8E6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13232" y="617220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17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SUMMARY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1243584"/>
            <a:ext cx="8001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Chain2Web的核心，不是再造一个单体Agent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92024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而是让节点、Agent和算法在运行时形成可执行、可恢复、可验证的能力网络。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13232" y="3154680"/>
            <a:ext cx="3383280" cy="1517904"/>
          </a:xfrm>
          <a:prstGeom prst="roundRect">
            <a:avLst>
              <a:gd name="adj" fmla="val 5422"/>
            </a:avLst>
          </a:prstGeom>
          <a:solidFill>
            <a:srgbClr val="FFFFFF"/>
          </a:solidFill>
          <a:ln w="10160">
            <a:solidFill>
              <a:srgbClr val="D7E1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1832" y="3401568"/>
            <a:ext cx="438912" cy="274320"/>
          </a:xfrm>
          <a:prstGeom prst="roundRect">
            <a:avLst>
              <a:gd name="adj" fmla="val 50000"/>
            </a:avLst>
          </a:prstGeom>
          <a:solidFill>
            <a:srgbClr val="1176D4"/>
          </a:solidFill>
          <a:ln w="10160">
            <a:solidFill>
              <a:srgbClr val="1176D4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41832" y="3406140"/>
            <a:ext cx="4389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328416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能力可形成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941832" y="3931920"/>
            <a:ext cx="28712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资源、算法和状态共同决定当前技能</a:t>
            </a:r>
            <a:endParaRPr lang="en-US" sz="1070" dirty="0"/>
          </a:p>
        </p:txBody>
      </p:sp>
      <p:sp>
        <p:nvSpPr>
          <p:cNvPr id="11" name="Shape 9"/>
          <p:cNvSpPr/>
          <p:nvPr/>
        </p:nvSpPr>
        <p:spPr>
          <a:xfrm>
            <a:off x="4462272" y="3154680"/>
            <a:ext cx="3383280" cy="1517904"/>
          </a:xfrm>
          <a:prstGeom prst="roundRect">
            <a:avLst>
              <a:gd name="adj" fmla="val 5422"/>
            </a:avLst>
          </a:prstGeom>
          <a:solidFill>
            <a:srgbClr val="FFFFFF"/>
          </a:solidFill>
          <a:ln w="10160">
            <a:solidFill>
              <a:srgbClr val="D7E1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90872" y="3401568"/>
            <a:ext cx="438912" cy="274320"/>
          </a:xfrm>
          <a:prstGeom prst="roundRect">
            <a:avLst>
              <a:gd name="adj" fmla="val 50000"/>
            </a:avLst>
          </a:prstGeom>
          <a:solidFill>
            <a:srgbClr val="26C7B8"/>
          </a:solidFill>
          <a:ln w="10160">
            <a:solidFill>
              <a:srgbClr val="26C7B8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90872" y="3406140"/>
            <a:ext cx="4389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5303520" y="3328416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任务可匹配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690872" y="3931920"/>
            <a:ext cx="28712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任务按技能描述，执行者运行时绑定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8211312" y="3154680"/>
            <a:ext cx="3383280" cy="1517904"/>
          </a:xfrm>
          <a:prstGeom prst="roundRect">
            <a:avLst>
              <a:gd name="adj" fmla="val 5422"/>
            </a:avLst>
          </a:prstGeom>
          <a:solidFill>
            <a:srgbClr val="FFFFFF"/>
          </a:solidFill>
          <a:ln w="10160">
            <a:solidFill>
              <a:srgbClr val="D7E1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39912" y="3401568"/>
            <a:ext cx="438912" cy="274320"/>
          </a:xfrm>
          <a:prstGeom prst="roundRect">
            <a:avLst>
              <a:gd name="adj" fmla="val 50000"/>
            </a:avLst>
          </a:prstGeom>
          <a:solidFill>
            <a:srgbClr val="7679F5"/>
          </a:solidFill>
          <a:ln w="10160">
            <a:solidFill>
              <a:srgbClr val="7679F5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39912" y="3406140"/>
            <a:ext cx="4389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9052560" y="3328416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过程可验证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439912" y="3931920"/>
            <a:ext cx="28712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执行记录、检查点和结果证据可追踪</a:t>
            </a:r>
            <a:endParaRPr lang="en-US" sz="1070" dirty="0"/>
          </a:p>
        </p:txBody>
      </p:sp>
      <p:sp>
        <p:nvSpPr>
          <p:cNvPr id="21" name="Shape 19"/>
          <p:cNvSpPr/>
          <p:nvPr/>
        </p:nvSpPr>
        <p:spPr>
          <a:xfrm>
            <a:off x="713232" y="5705856"/>
            <a:ext cx="10735056" cy="0"/>
          </a:xfrm>
          <a:prstGeom prst="line">
            <a:avLst/>
          </a:prstGeom>
          <a:noFill/>
          <a:ln w="10160">
            <a:solidFill>
              <a:srgbClr val="D7E1EA"/>
            </a:solidFill>
            <a:prstDash val="solid"/>
            <a:tailEnd type="none"/>
          </a:ln>
        </p:spPr>
      </p:sp>
      <p:sp>
        <p:nvSpPr>
          <p:cNvPr id="22" name="Text 20"/>
          <p:cNvSpPr txBox="1"/>
          <p:nvPr/>
        </p:nvSpPr>
        <p:spPr>
          <a:xfrm>
            <a:off x="713232" y="5943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64A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9875520" y="5925312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4263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Q &amp; A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743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kern="0" spc="220" dirty="0">
                <a:solidFill>
                  <a:srgbClr val="117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TEMPLATE / COMPONENT LIBRARY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548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组件库：请从本页复制，不要自行重画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051560"/>
            <a:ext cx="685800" cy="50292"/>
          </a:xfrm>
          <a:prstGeom prst="rect">
            <a:avLst/>
          </a:prstGeom>
          <a:solidFill>
            <a:srgbClr val="19B8E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064240" y="393192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8FA0B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6528816"/>
            <a:ext cx="11000232" cy="0"/>
          </a:xfrm>
          <a:prstGeom prst="line">
            <a:avLst/>
          </a:prstGeom>
          <a:noFill/>
          <a:ln w="8890">
            <a:solidFill>
              <a:srgbClr val="DDE6EE"/>
            </a:solidFill>
            <a:prstDash val="solid"/>
            <a:tailEnd type="none"/>
          </a:ln>
        </p:spPr>
      </p:sp>
      <p:sp>
        <p:nvSpPr>
          <p:cNvPr id="7" name="Text 5"/>
          <p:cNvSpPr txBox="1"/>
          <p:nvPr/>
        </p:nvSpPr>
        <p:spPr>
          <a:xfrm>
            <a:off x="594360" y="65653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8FA0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北京邮电大学｜Chain2Web 项目组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8732520" y="656539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8FA0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所有图形均应保持可编辑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9857232" y="923544"/>
            <a:ext cx="1719072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0160">
            <a:solidFill>
              <a:srgbClr val="064A9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857232" y="928116"/>
            <a:ext cx="1719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4A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协作控制页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94944" y="13898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对象颜色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13232" y="181051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0160">
            <a:solidFill>
              <a:srgbClr val="064A9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1815084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4A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764792" y="181051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0160">
            <a:solidFill>
              <a:srgbClr val="1176D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764792" y="1815084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7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816352" y="181051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0160">
            <a:solidFill>
              <a:srgbClr val="26C7B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816352" y="1815084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6C7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13232" y="228600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0160">
            <a:solidFill>
              <a:srgbClr val="7679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3232" y="2290572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679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764792" y="228600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0160">
            <a:solidFill>
              <a:srgbClr val="E95D6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764792" y="2290572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95D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816352" y="228600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0160">
            <a:solidFill>
              <a:srgbClr val="F59E5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816352" y="2290572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4133088" y="13898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状态标签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133088" y="1810512"/>
            <a:ext cx="877824" cy="274320"/>
          </a:xfrm>
          <a:prstGeom prst="roundRect">
            <a:avLst>
              <a:gd name="adj" fmla="val 50000"/>
            </a:avLst>
          </a:prstGeom>
          <a:solidFill>
            <a:srgbClr val="37B878"/>
          </a:solidFill>
          <a:ln w="10160">
            <a:solidFill>
              <a:srgbClr val="37B878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133088" y="1815084"/>
            <a:ext cx="8778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已验证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102352" y="1810512"/>
            <a:ext cx="877824" cy="274320"/>
          </a:xfrm>
          <a:prstGeom prst="roundRect">
            <a:avLst>
              <a:gd name="adj" fmla="val 50000"/>
            </a:avLst>
          </a:prstGeom>
          <a:solidFill>
            <a:srgbClr val="1176D4"/>
          </a:solidFill>
          <a:ln w="10160">
            <a:solidFill>
              <a:srgbClr val="1176D4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102352" y="1815084"/>
            <a:ext cx="8778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71616" y="1810512"/>
            <a:ext cx="987552" cy="274320"/>
          </a:xfrm>
          <a:prstGeom prst="roundRect">
            <a:avLst>
              <a:gd name="adj" fmla="val 50000"/>
            </a:avLst>
          </a:prstGeom>
          <a:solidFill>
            <a:srgbClr val="F59E57"/>
          </a:solidFill>
          <a:ln w="10160">
            <a:solidFill>
              <a:srgbClr val="F59E57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071616" y="1815084"/>
            <a:ext cx="987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设计机制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150608" y="1810512"/>
            <a:ext cx="987552" cy="274320"/>
          </a:xfrm>
          <a:prstGeom prst="roundRect">
            <a:avLst>
              <a:gd name="adj" fmla="val 50000"/>
            </a:avLst>
          </a:prstGeom>
          <a:solidFill>
            <a:srgbClr val="63758A"/>
          </a:solidFill>
          <a:ln w="10160">
            <a:solidFill>
              <a:srgbClr val="63758A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150608" y="1815084"/>
            <a:ext cx="987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规划方向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8650224" y="13898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连线语义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650224" y="1938528"/>
            <a:ext cx="1088136" cy="0"/>
          </a:xfrm>
          <a:prstGeom prst="line">
            <a:avLst/>
          </a:prstGeom>
          <a:noFill/>
          <a:ln w="19050">
            <a:solidFill>
              <a:srgbClr val="1176D4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9893808" y="181051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 / 主流程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650224" y="2368296"/>
            <a:ext cx="1088136" cy="0"/>
          </a:xfrm>
          <a:prstGeom prst="line">
            <a:avLst/>
          </a:prstGeom>
          <a:noFill/>
          <a:ln w="17780">
            <a:solidFill>
              <a:srgbClr val="F59E57"/>
            </a:solidFill>
            <a:prstDash val="dash"/>
            <a:tailEnd type="triangle"/>
          </a:ln>
        </p:spPr>
      </p:sp>
      <p:sp>
        <p:nvSpPr>
          <p:cNvPr id="37" name="Text 35"/>
          <p:cNvSpPr txBox="1"/>
          <p:nvPr/>
        </p:nvSpPr>
        <p:spPr>
          <a:xfrm>
            <a:off x="9893808" y="22402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 / 异常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94944" y="2852928"/>
            <a:ext cx="10789920" cy="0"/>
          </a:xfrm>
          <a:prstGeom prst="line">
            <a:avLst/>
          </a:prstGeom>
          <a:noFill/>
          <a:ln w="10160">
            <a:solidFill>
              <a:srgbClr val="D7E1EA"/>
            </a:solidFill>
            <a:prstDash val="solid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713232" y="3218688"/>
            <a:ext cx="3273552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0160">
            <a:solidFill>
              <a:srgbClr val="D7E1E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9264" y="3520440"/>
            <a:ext cx="256032" cy="256032"/>
          </a:xfrm>
          <a:prstGeom prst="ellipse">
            <a:avLst/>
          </a:prstGeom>
          <a:solidFill>
            <a:srgbClr val="1176D4"/>
          </a:solidFill>
          <a:ln w="12700">
            <a:solidFill>
              <a:srgbClr val="1176D4">
                <a:alpha val="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96696" y="353872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1335024" y="349300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标准内容卡片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955548" y="4082796"/>
            <a:ext cx="64008" cy="64008"/>
          </a:xfrm>
          <a:prstGeom prst="ellipse">
            <a:avLst/>
          </a:prstGeom>
          <a:solidFill>
            <a:srgbClr val="1176D4"/>
          </a:solidFill>
          <a:ln w="12700">
            <a:solidFill>
              <a:srgbClr val="1176D4">
                <a:alpha val="0"/>
              </a:srgbClr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088136" y="4005072"/>
            <a:ext cx="2532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每页只保留一个核心结论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955548" y="4430268"/>
            <a:ext cx="64008" cy="64008"/>
          </a:xfrm>
          <a:prstGeom prst="ellipse">
            <a:avLst/>
          </a:prstGeom>
          <a:solidFill>
            <a:srgbClr val="1176D4"/>
          </a:solidFill>
          <a:ln w="12700">
            <a:solidFill>
              <a:srgbClr val="1176D4">
                <a:alpha val="0"/>
              </a:srgbClr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088136" y="4352544"/>
            <a:ext cx="2532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最多三个主要内容组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955548" y="4777740"/>
            <a:ext cx="64008" cy="64008"/>
          </a:xfrm>
          <a:prstGeom prst="ellipse">
            <a:avLst/>
          </a:prstGeom>
          <a:solidFill>
            <a:srgbClr val="1176D4"/>
          </a:solidFill>
          <a:ln w="12700">
            <a:solidFill>
              <a:srgbClr val="1176D4">
                <a:alpha val="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088136" y="4700016"/>
            <a:ext cx="2532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关键表述附来源与状态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4315968" y="3218688"/>
            <a:ext cx="3273552" cy="1993392"/>
          </a:xfrm>
          <a:prstGeom prst="roundRect">
            <a:avLst>
              <a:gd name="adj" fmla="val 3670"/>
            </a:avLst>
          </a:prstGeom>
          <a:solidFill>
            <a:srgbClr val="EAF8F5"/>
          </a:solidFill>
          <a:ln w="10160">
            <a:solidFill>
              <a:srgbClr val="BFE7D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53712" y="3474720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26C7B8"/>
          </a:solidFill>
          <a:ln w="10160">
            <a:solidFill>
              <a:srgbClr val="26C7B8">
                <a:alpha val="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4553712" y="3479292"/>
            <a:ext cx="786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17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lang="en-US" sz="950" dirty="0"/>
          </a:p>
        </p:txBody>
      </p:sp>
      <p:sp>
        <p:nvSpPr>
          <p:cNvPr id="52" name="Text 50"/>
          <p:cNvSpPr txBox="1"/>
          <p:nvPr/>
        </p:nvSpPr>
        <p:spPr>
          <a:xfrm>
            <a:off x="4553712" y="3913632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Agent-03</a:t>
            </a:r>
            <a:endParaRPr lang="en-US" sz="1600" dirty="0"/>
          </a:p>
        </p:txBody>
      </p:sp>
      <p:sp>
        <p:nvSpPr>
          <p:cNvPr id="53" name="Text 51"/>
          <p:cNvSpPr txBox="1"/>
          <p:nvPr/>
        </p:nvSpPr>
        <p:spPr>
          <a:xfrm>
            <a:off x="4553712" y="4352544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在线｜GPU 余量 68%｜2项技能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4553712" y="4754880"/>
            <a:ext cx="758952" cy="274320"/>
          </a:xfrm>
          <a:prstGeom prst="roundRect">
            <a:avLst>
              <a:gd name="adj" fmla="val 50000"/>
            </a:avLst>
          </a:prstGeom>
          <a:solidFill>
            <a:srgbClr val="37B878"/>
          </a:solidFill>
          <a:ln w="10160">
            <a:solidFill>
              <a:srgbClr val="37B878">
                <a:alpha val="0"/>
              </a:srgbClr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4553712" y="4759452"/>
            <a:ext cx="7589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可执行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7918704" y="3218688"/>
            <a:ext cx="3273552" cy="1993392"/>
          </a:xfrm>
          <a:prstGeom prst="roundRect">
            <a:avLst>
              <a:gd name="adj" fmla="val 3670"/>
            </a:avLst>
          </a:prstGeom>
          <a:solidFill>
            <a:srgbClr val="EEEDFF"/>
          </a:solidFill>
          <a:ln w="10160">
            <a:solidFill>
              <a:srgbClr val="D2D1F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156448" y="34747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7679F5"/>
          </a:solidFill>
          <a:ln w="10160">
            <a:solidFill>
              <a:srgbClr val="7679F5">
                <a:alpha val="0"/>
              </a:srgbClr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8156448" y="3479292"/>
            <a:ext cx="10241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ALGORITHM</a:t>
            </a:r>
            <a:endParaRPr lang="en-US" sz="950" dirty="0"/>
          </a:p>
        </p:txBody>
      </p:sp>
      <p:sp>
        <p:nvSpPr>
          <p:cNvPr id="59" name="Text 57"/>
          <p:cNvSpPr txBox="1"/>
          <p:nvPr/>
        </p:nvSpPr>
        <p:spPr>
          <a:xfrm>
            <a:off x="8156448" y="3913632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Model-v2</a:t>
            </a:r>
            <a:endParaRPr lang="en-US" sz="1600" dirty="0"/>
          </a:p>
        </p:txBody>
      </p:sp>
      <p:sp>
        <p:nvSpPr>
          <p:cNvPr id="60" name="Text 58"/>
          <p:cNvSpPr txBox="1"/>
          <p:nvPr/>
        </p:nvSpPr>
        <p:spPr>
          <a:xfrm>
            <a:off x="8156448" y="4352544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Schema｜资源要求｜版本状态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8156448" y="4754880"/>
            <a:ext cx="804672" cy="274320"/>
          </a:xfrm>
          <a:prstGeom prst="roundRect">
            <a:avLst>
              <a:gd name="adj" fmla="val 50000"/>
            </a:avLst>
          </a:prstGeom>
          <a:solidFill>
            <a:srgbClr val="37B878"/>
          </a:solidFill>
          <a:ln w="10160">
            <a:solidFill>
              <a:srgbClr val="37B878">
                <a:alpha val="0"/>
              </a:srgbClr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8156448" y="4759452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已验证</a:t>
            </a:r>
            <a:endParaRPr lang="en-US" sz="950" dirty="0"/>
          </a:p>
        </p:txBody>
      </p:sp>
      <p:sp>
        <p:nvSpPr>
          <p:cNvPr id="63" name="Text 61"/>
          <p:cNvSpPr txBox="1"/>
          <p:nvPr/>
        </p:nvSpPr>
        <p:spPr>
          <a:xfrm>
            <a:off x="731520" y="5715000"/>
            <a:ext cx="10460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95D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禁止事项：更改主题色｜引入另一套图标｜整页截图｜未核验数据｜擅自添加渐变与阴影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743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kern="0" spc="220" dirty="0">
                <a:solidFill>
                  <a:srgbClr val="117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TEMPLATE / WORKING AGREEMENT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548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模板使用规则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051560"/>
            <a:ext cx="685800" cy="50292"/>
          </a:xfrm>
          <a:prstGeom prst="rect">
            <a:avLst/>
          </a:prstGeom>
          <a:solidFill>
            <a:srgbClr val="19B8E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064240" y="393192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8FA0B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6528816"/>
            <a:ext cx="11000232" cy="0"/>
          </a:xfrm>
          <a:prstGeom prst="line">
            <a:avLst/>
          </a:prstGeom>
          <a:noFill/>
          <a:ln w="8890">
            <a:solidFill>
              <a:srgbClr val="DDE6EE"/>
            </a:solidFill>
            <a:prstDash val="solid"/>
            <a:tailEnd type="none"/>
          </a:ln>
        </p:spPr>
      </p:sp>
      <p:sp>
        <p:nvSpPr>
          <p:cNvPr id="7" name="Text 5"/>
          <p:cNvSpPr txBox="1"/>
          <p:nvPr/>
        </p:nvSpPr>
        <p:spPr>
          <a:xfrm>
            <a:off x="594360" y="65653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8FA0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北京邮电大学｜Chain2Web 项目组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8732520" y="656539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8FA0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所有图形均应保持可编辑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9857232" y="923544"/>
            <a:ext cx="1719072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0160">
            <a:solidFill>
              <a:srgbClr val="064A9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857232" y="928116"/>
            <a:ext cx="1719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4A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交付前必检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94944" y="1344168"/>
            <a:ext cx="5230368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0160">
            <a:solidFill>
              <a:srgbClr val="D7E1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1545336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176D4"/>
          </a:solidFill>
          <a:ln w="10160">
            <a:solidFill>
              <a:srgbClr val="1176D4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1549908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1545336" y="1490472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先写结论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3017520" y="1499616"/>
            <a:ext cx="2578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标题下方内容必须共同支撑一个结论，不得把材料简单堆到页面。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54496" y="1344168"/>
            <a:ext cx="5230368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0160">
            <a:solidFill>
              <a:srgbClr val="D7E1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73952" y="1545336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26C7B8"/>
          </a:solidFill>
          <a:ln w="10160">
            <a:solidFill>
              <a:srgbClr val="26C7B8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73952" y="1549908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7104888" y="1490472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先核验再美化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8577072" y="1499616"/>
            <a:ext cx="2578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关键能力标注“已验证 / 已实现 / 设计机制 / 规划方向”。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94944" y="2779776"/>
            <a:ext cx="5230368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0160">
            <a:solidFill>
              <a:srgbClr val="D7E1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2980944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176D4"/>
          </a:solidFill>
          <a:ln w="10160">
            <a:solidFill>
              <a:srgbClr val="1176D4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4400" y="2985516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1545336" y="2926080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统一图形语言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3017520" y="2935224"/>
            <a:ext cx="2578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Agent、技能、算法、异常和证据使用组件库中的固定颜色。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54496" y="2779776"/>
            <a:ext cx="5230368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0160">
            <a:solidFill>
              <a:srgbClr val="D7E1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73952" y="2980944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26C7B8"/>
          </a:solidFill>
          <a:ln w="10160">
            <a:solidFill>
              <a:srgbClr val="26C7B8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73952" y="2985516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7104888" y="2926080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4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所有图形可编辑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8577072" y="2935224"/>
            <a:ext cx="2578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架构与流程使用PPT形状；截图只用于证明真实系统。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94944" y="5788152"/>
            <a:ext cx="10789920" cy="384048"/>
          </a:xfrm>
          <a:prstGeom prst="roundRect">
            <a:avLst>
              <a:gd name="adj" fmla="val 14286"/>
            </a:avLst>
          </a:prstGeom>
          <a:solidFill>
            <a:srgbClr val="071725"/>
          </a:solidFill>
          <a:ln w="10160">
            <a:solidFill>
              <a:srgbClr val="071725">
                <a:alpha val="0"/>
              </a:srgb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14400" y="5843016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提交前：事实有来源｜状态不夸大｜术语一致｜图形可编辑｜相邻页面不重复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807</Words>
  <Application>Microsoft Office PowerPoint</Application>
  <PresentationFormat>宽屏</PresentationFormat>
  <Paragraphs>375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9" baseType="lpstr">
      <vt:lpstr>Microsoft YaHei</vt:lpstr>
      <vt:lpstr>Aptos Mono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北京邮电大学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Chain2Web：拓链成网世界模型推演｜PPT模板</dc:title>
  <dc:subject>Chain2Web PPT editable template</dc:subject>
  <dc:creator>Chain2Web Project Team</dc:creator>
  <cp:lastModifiedBy>yu wang</cp:lastModifiedBy>
  <cp:revision>3</cp:revision>
  <dcterms:created xsi:type="dcterms:W3CDTF">2026-09-22T10:55:39Z</dcterms:created>
  <dcterms:modified xsi:type="dcterms:W3CDTF">2026-09-22T11:05:08Z</dcterms:modified>
</cp:coreProperties>
</file>